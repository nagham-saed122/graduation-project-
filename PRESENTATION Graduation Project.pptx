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8229600" cx="14630400"/>
  <p:notesSz cx="8229600" cy="14630400"/>
  <p:embeddedFontLst>
    <p:embeddedFont>
      <p:font typeface="Arimo"/>
      <p:regular r:id="rId14"/>
      <p:bold r:id="rId15"/>
      <p:italic r:id="rId16"/>
      <p:boldItalic r:id="rId17"/>
    </p:embeddedFont>
    <p:embeddedFont>
      <p:font typeface="Outfit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Arimo-bold.fntdata"/><Relationship Id="rId14" Type="http://schemas.openxmlformats.org/officeDocument/2006/relationships/font" Target="fonts/Arimo-regular.fntdata"/><Relationship Id="rId17" Type="http://schemas.openxmlformats.org/officeDocument/2006/relationships/font" Target="fonts/Arimo-boldItalic.fntdata"/><Relationship Id="rId16" Type="http://schemas.openxmlformats.org/officeDocument/2006/relationships/font" Target="fonts/Arimo-italic.fntdata"/><Relationship Id="rId5" Type="http://schemas.openxmlformats.org/officeDocument/2006/relationships/slide" Target="slides/slide1.xml"/><Relationship Id="rId19" Type="http://schemas.openxmlformats.org/officeDocument/2006/relationships/font" Target="fonts/Outfit-bold.fntdata"/><Relationship Id="rId6" Type="http://schemas.openxmlformats.org/officeDocument/2006/relationships/slide" Target="slides/slide2.xml"/><Relationship Id="rId18" Type="http://schemas.openxmlformats.org/officeDocument/2006/relationships/font" Target="fonts/Outfit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automationexercise.com/api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/>
          <p:nvPr/>
        </p:nvSpPr>
        <p:spPr>
          <a:xfrm>
            <a:off x="793790" y="653058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4450"/>
              <a:buFont typeface="Outfit"/>
              <a:buNone/>
            </a:pPr>
            <a:r>
              <a:rPr b="1" i="0" lang="en-US" sz="4450" u="none" cap="none" strike="noStrike">
                <a:solidFill>
                  <a:srgbClr val="231971"/>
                </a:solidFill>
                <a:latin typeface="Outfit"/>
                <a:ea typeface="Outfit"/>
                <a:cs typeface="Outfit"/>
                <a:sym typeface="Outfit"/>
              </a:rPr>
              <a:t>OpenCart Graduation Project: Testing Strategy &amp; Analysis</a:t>
            </a:r>
            <a:endParaRPr b="0" i="0" sz="4450" u="none" cap="none" strike="noStrike"/>
          </a:p>
        </p:txBody>
      </p:sp>
      <p:sp>
        <p:nvSpPr>
          <p:cNvPr id="53" name="Google Shape;53;p12"/>
          <p:cNvSpPr/>
          <p:nvPr/>
        </p:nvSpPr>
        <p:spPr>
          <a:xfrm>
            <a:off x="793790" y="2524244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28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Team: Cart Inspectors</a:t>
            </a:r>
            <a:endParaRPr b="1" i="0" sz="2850" u="none" cap="none" strike="noStrike"/>
          </a:p>
        </p:txBody>
      </p:sp>
      <p:sp>
        <p:nvSpPr>
          <p:cNvPr id="54" name="Google Shape;54;p12"/>
          <p:cNvSpPr/>
          <p:nvPr/>
        </p:nvSpPr>
        <p:spPr>
          <a:xfrm>
            <a:off x="793790" y="3505200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Nagham Ahmed Mahmoud Saed (Team leader)</a:t>
            </a:r>
            <a:endParaRPr b="0" i="0" sz="1750" u="none" cap="none" strike="noStrike"/>
          </a:p>
        </p:txBody>
      </p:sp>
      <p:sp>
        <p:nvSpPr>
          <p:cNvPr id="55" name="Google Shape;55;p12"/>
          <p:cNvSpPr/>
          <p:nvPr/>
        </p:nvSpPr>
        <p:spPr>
          <a:xfrm>
            <a:off x="793790" y="4123253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Ahmed Gamal Hassan Ali Ghoneim</a:t>
            </a:r>
            <a:endParaRPr b="0" i="0" sz="1750" u="none" cap="none" strike="noStrike"/>
          </a:p>
        </p:txBody>
      </p:sp>
      <p:sp>
        <p:nvSpPr>
          <p:cNvPr id="56" name="Google Shape;56;p12"/>
          <p:cNvSpPr/>
          <p:nvPr/>
        </p:nvSpPr>
        <p:spPr>
          <a:xfrm>
            <a:off x="793790" y="4741307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Kareem Fareed Abd-Elrahman Fahmy</a:t>
            </a:r>
            <a:endParaRPr b="0" i="0" sz="1750" u="none" cap="none" strike="noStrike"/>
          </a:p>
        </p:txBody>
      </p:sp>
      <p:sp>
        <p:nvSpPr>
          <p:cNvPr id="57" name="Google Shape;57;p12"/>
          <p:cNvSpPr/>
          <p:nvPr/>
        </p:nvSpPr>
        <p:spPr>
          <a:xfrm>
            <a:off x="793790" y="5359360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Doha Ramadan Salah El-Khedewy</a:t>
            </a:r>
            <a:endParaRPr b="0" i="0" sz="1750" u="none" cap="none" strike="noStrike"/>
          </a:p>
        </p:txBody>
      </p:sp>
      <p:sp>
        <p:nvSpPr>
          <p:cNvPr id="58" name="Google Shape;58;p12"/>
          <p:cNvSpPr/>
          <p:nvPr/>
        </p:nvSpPr>
        <p:spPr>
          <a:xfrm>
            <a:off x="793790" y="5977414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Jana Mohamed El-Fateh Mohamed</a:t>
            </a:r>
            <a:endParaRPr b="0" i="0" sz="1750" u="none" cap="none" strike="noStrike"/>
          </a:p>
        </p:txBody>
      </p:sp>
      <p:sp>
        <p:nvSpPr>
          <p:cNvPr id="59" name="Google Shape;59;p12"/>
          <p:cNvSpPr/>
          <p:nvPr/>
        </p:nvSpPr>
        <p:spPr>
          <a:xfrm>
            <a:off x="793790" y="6595467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Alaa Ahmed Tolba Ashmawy</a:t>
            </a:r>
            <a:endParaRPr b="0" i="0" sz="1750" u="none" cap="none" strike="noStrike"/>
          </a:p>
        </p:txBody>
      </p:sp>
      <p:sp>
        <p:nvSpPr>
          <p:cNvPr id="60" name="Google Shape;60;p12"/>
          <p:cNvSpPr/>
          <p:nvPr/>
        </p:nvSpPr>
        <p:spPr>
          <a:xfrm>
            <a:off x="793790" y="7213521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sp>
        <p:nvSpPr>
          <p:cNvPr id="61" name="Google Shape;61;p12"/>
          <p:cNvSpPr/>
          <p:nvPr/>
        </p:nvSpPr>
        <p:spPr>
          <a:xfrm>
            <a:off x="12841650" y="7612975"/>
            <a:ext cx="1680600" cy="512700"/>
          </a:xfrm>
          <a:prstGeom prst="rect">
            <a:avLst/>
          </a:prstGeom>
          <a:solidFill>
            <a:srgbClr val="EEEEF4"/>
          </a:solidFill>
          <a:ln cap="flat" cmpd="sng" w="9525">
            <a:solidFill>
              <a:srgbClr val="EE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/>
          <p:nvPr/>
        </p:nvSpPr>
        <p:spPr>
          <a:xfrm>
            <a:off x="793790" y="1580317"/>
            <a:ext cx="1003720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4450"/>
              <a:buFont typeface="Outfit"/>
              <a:buNone/>
            </a:pPr>
            <a:r>
              <a:rPr b="1" i="0" lang="en-US" sz="4450" u="none" cap="none" strike="noStrike">
                <a:solidFill>
                  <a:srgbClr val="231971"/>
                </a:solidFill>
                <a:latin typeface="Outfit"/>
                <a:ea typeface="Outfit"/>
                <a:cs typeface="Outfit"/>
                <a:sym typeface="Outfit"/>
              </a:rPr>
              <a:t>1. Project Overview &amp; Testing Strategy</a:t>
            </a:r>
            <a:endParaRPr b="0" i="0" sz="4450" u="none" cap="none" strike="noStrike"/>
          </a:p>
        </p:txBody>
      </p:sp>
      <p:sp>
        <p:nvSpPr>
          <p:cNvPr id="68" name="Google Shape;68;p13"/>
          <p:cNvSpPr/>
          <p:nvPr/>
        </p:nvSpPr>
        <p:spPr>
          <a:xfrm>
            <a:off x="793790" y="2742724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7EBD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007EBD"/>
                </a:solidFill>
                <a:latin typeface="Arimo"/>
                <a:ea typeface="Arimo"/>
                <a:cs typeface="Arimo"/>
                <a:sym typeface="Arimo"/>
              </a:rPr>
              <a:t>Project Goal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Ensure the functional stability, data integrity, and reliability of the OpenCart e-commerce platform through a hybrid manual and automated testing approach.</a:t>
            </a:r>
            <a:endParaRPr b="0" i="0" sz="1750" u="none" cap="none" strike="noStrike"/>
          </a:p>
        </p:txBody>
      </p:sp>
      <p:sp>
        <p:nvSpPr>
          <p:cNvPr id="69" name="Google Shape;69;p13"/>
          <p:cNvSpPr/>
          <p:nvPr/>
        </p:nvSpPr>
        <p:spPr>
          <a:xfrm>
            <a:off x="793790" y="3723680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7EBD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007EBD"/>
                </a:solidFill>
                <a:latin typeface="Arimo"/>
                <a:ea typeface="Arimo"/>
                <a:cs typeface="Arimo"/>
                <a:sym typeface="Arimo"/>
              </a:rPr>
              <a:t>Scope of Work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We conducted a rigorous testing cycle across 4 distinct layers:</a:t>
            </a:r>
            <a:endParaRPr b="0" i="0" sz="1750" u="none" cap="none" strike="noStrike"/>
          </a:p>
        </p:txBody>
      </p:sp>
      <p:sp>
        <p:nvSpPr>
          <p:cNvPr id="70" name="Google Shape;70;p13"/>
          <p:cNvSpPr/>
          <p:nvPr/>
        </p:nvSpPr>
        <p:spPr>
          <a:xfrm>
            <a:off x="793790" y="4341733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Manual Testing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User-centric validation of UI flows (108 Cases).</a:t>
            </a:r>
            <a:endParaRPr b="0" i="0" sz="1750" u="none" cap="none" strike="noStrike"/>
          </a:p>
        </p:txBody>
      </p:sp>
      <p:sp>
        <p:nvSpPr>
          <p:cNvPr id="71" name="Google Shape;71;p13"/>
          <p:cNvSpPr/>
          <p:nvPr/>
        </p:nvSpPr>
        <p:spPr>
          <a:xfrm>
            <a:off x="793790" y="4783931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API Testing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Dedicated validation of </a:t>
            </a:r>
            <a:r>
              <a:rPr lang="en-US" sz="175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14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endpoints (14 Positive + 14 Negative).</a:t>
            </a:r>
            <a:endParaRPr b="0" i="0" sz="1750" u="none" cap="none" strike="noStrike"/>
          </a:p>
        </p:txBody>
      </p:sp>
      <p:sp>
        <p:nvSpPr>
          <p:cNvPr id="72" name="Google Shape;72;p13"/>
          <p:cNvSpPr/>
          <p:nvPr/>
        </p:nvSpPr>
        <p:spPr>
          <a:xfrm>
            <a:off x="793790" y="5226129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UI Automation (Java)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A targeted regression suite for critical paths (1</a:t>
            </a:r>
            <a:r>
              <a:rPr lang="en-US" sz="175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8 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Automated Tests).</a:t>
            </a:r>
            <a:endParaRPr b="0" i="0" sz="1750" u="none" cap="none" strike="noStrike"/>
          </a:p>
        </p:txBody>
      </p:sp>
      <p:sp>
        <p:nvSpPr>
          <p:cNvPr id="73" name="Google Shape;73;p13"/>
          <p:cNvSpPr/>
          <p:nvPr/>
        </p:nvSpPr>
        <p:spPr>
          <a:xfrm>
            <a:off x="793790" y="5668327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Database Testing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Direct data integrity and constraint verification (40 Cases).</a:t>
            </a:r>
            <a:endParaRPr b="0" i="0" sz="1750" u="none" cap="none" strike="noStrike"/>
          </a:p>
        </p:txBody>
      </p:sp>
      <p:sp>
        <p:nvSpPr>
          <p:cNvPr id="74" name="Google Shape;74;p13"/>
          <p:cNvSpPr/>
          <p:nvPr/>
        </p:nvSpPr>
        <p:spPr>
          <a:xfrm>
            <a:off x="793790" y="6286381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7EBD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007EBD"/>
                </a:solidFill>
                <a:latin typeface="Arimo"/>
                <a:ea typeface="Arimo"/>
                <a:cs typeface="Arimo"/>
                <a:sym typeface="Arimo"/>
              </a:rPr>
              <a:t>Total Execution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193 Test Cases across all layers.</a:t>
            </a:r>
            <a:endParaRPr b="0" i="0" sz="1750" u="none" cap="none" strike="noStrike"/>
          </a:p>
        </p:txBody>
      </p:sp>
      <p:sp>
        <p:nvSpPr>
          <p:cNvPr id="75" name="Google Shape;75;p13"/>
          <p:cNvSpPr/>
          <p:nvPr/>
        </p:nvSpPr>
        <p:spPr>
          <a:xfrm>
            <a:off x="12841650" y="7612975"/>
            <a:ext cx="1680600" cy="512700"/>
          </a:xfrm>
          <a:prstGeom prst="rect">
            <a:avLst/>
          </a:prstGeom>
          <a:solidFill>
            <a:srgbClr val="EEEEF4"/>
          </a:solidFill>
          <a:ln cap="flat" cmpd="sng" w="9525">
            <a:solidFill>
              <a:srgbClr val="EE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/>
          <p:nvPr/>
        </p:nvSpPr>
        <p:spPr>
          <a:xfrm>
            <a:off x="793790" y="1084540"/>
            <a:ext cx="12019955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4450"/>
              <a:buFont typeface="Outfit"/>
              <a:buNone/>
            </a:pPr>
            <a:r>
              <a:rPr b="1" i="0" lang="en-US" sz="4450" u="none" cap="none" strike="noStrike">
                <a:solidFill>
                  <a:srgbClr val="231971"/>
                </a:solidFill>
                <a:latin typeface="Outfit"/>
                <a:ea typeface="Outfit"/>
                <a:cs typeface="Outfit"/>
                <a:sym typeface="Outfit"/>
              </a:rPr>
              <a:t>2. Executive Summary: Test Execution Metrics</a:t>
            </a:r>
            <a:endParaRPr b="0" i="0" sz="4450" u="none" cap="none" strike="noStrike"/>
          </a:p>
        </p:txBody>
      </p:sp>
      <p:sp>
        <p:nvSpPr>
          <p:cNvPr id="82" name="Google Shape;82;p14"/>
          <p:cNvSpPr/>
          <p:nvPr/>
        </p:nvSpPr>
        <p:spPr>
          <a:xfrm>
            <a:off x="793790" y="2246948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We meticulously tracked the pass/fail status of every test case. Below is the final breakdown by testing field table:</a:t>
            </a:r>
            <a:endParaRPr b="0" i="0" sz="1750" u="none" cap="none" strike="noStrike"/>
          </a:p>
        </p:txBody>
      </p:sp>
      <p:sp>
        <p:nvSpPr>
          <p:cNvPr id="83" name="Google Shape;83;p14"/>
          <p:cNvSpPr/>
          <p:nvPr/>
        </p:nvSpPr>
        <p:spPr>
          <a:xfrm>
            <a:off x="793790" y="2865001"/>
            <a:ext cx="13042821" cy="4280059"/>
          </a:xfrm>
          <a:prstGeom prst="roundRect">
            <a:avLst>
              <a:gd fmla="val 2226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4"/>
          <p:cNvSpPr/>
          <p:nvPr/>
        </p:nvSpPr>
        <p:spPr>
          <a:xfrm>
            <a:off x="801410" y="2872621"/>
            <a:ext cx="13027581" cy="6503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4"/>
          <p:cNvSpPr/>
          <p:nvPr/>
        </p:nvSpPr>
        <p:spPr>
          <a:xfrm>
            <a:off x="1028581" y="3016329"/>
            <a:ext cx="214800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Field</a:t>
            </a:r>
            <a:endParaRPr b="0" i="0" sz="1750" u="none" cap="none" strike="noStrike"/>
          </a:p>
        </p:txBody>
      </p:sp>
      <p:sp>
        <p:nvSpPr>
          <p:cNvPr id="86" name="Google Shape;86;p14"/>
          <p:cNvSpPr/>
          <p:nvPr/>
        </p:nvSpPr>
        <p:spPr>
          <a:xfrm>
            <a:off x="3637836" y="3016329"/>
            <a:ext cx="214419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Total Tests</a:t>
            </a:r>
            <a:endParaRPr b="0" i="0" sz="1750" u="none" cap="none" strike="noStrike"/>
          </a:p>
        </p:txBody>
      </p:sp>
      <p:sp>
        <p:nvSpPr>
          <p:cNvPr id="87" name="Google Shape;87;p14"/>
          <p:cNvSpPr/>
          <p:nvPr/>
        </p:nvSpPr>
        <p:spPr>
          <a:xfrm>
            <a:off x="6243280" y="3016329"/>
            <a:ext cx="214419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Passed</a:t>
            </a:r>
            <a:endParaRPr b="0" i="0" sz="1750" u="none" cap="none" strike="noStrike"/>
          </a:p>
        </p:txBody>
      </p:sp>
      <p:sp>
        <p:nvSpPr>
          <p:cNvPr id="88" name="Google Shape;88;p14"/>
          <p:cNvSpPr/>
          <p:nvPr/>
        </p:nvSpPr>
        <p:spPr>
          <a:xfrm>
            <a:off x="8848725" y="3016329"/>
            <a:ext cx="214419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Failed</a:t>
            </a:r>
            <a:endParaRPr b="0" i="0" sz="1750" u="none" cap="none" strike="noStrike"/>
          </a:p>
        </p:txBody>
      </p:sp>
      <p:sp>
        <p:nvSpPr>
          <p:cNvPr id="89" name="Google Shape;89;p14"/>
          <p:cNvSpPr/>
          <p:nvPr/>
        </p:nvSpPr>
        <p:spPr>
          <a:xfrm>
            <a:off x="11454170" y="3016329"/>
            <a:ext cx="214800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Success Rate (%)</a:t>
            </a:r>
            <a:endParaRPr b="0" i="0" sz="1750" u="none" cap="none" strike="noStrike"/>
          </a:p>
        </p:txBody>
      </p:sp>
      <p:sp>
        <p:nvSpPr>
          <p:cNvPr id="90" name="Google Shape;90;p14"/>
          <p:cNvSpPr/>
          <p:nvPr/>
        </p:nvSpPr>
        <p:spPr>
          <a:xfrm>
            <a:off x="801410" y="3522940"/>
            <a:ext cx="13027581" cy="650319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4"/>
          <p:cNvSpPr/>
          <p:nvPr/>
        </p:nvSpPr>
        <p:spPr>
          <a:xfrm>
            <a:off x="1028581" y="3666649"/>
            <a:ext cx="214800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Manual UI</a:t>
            </a:r>
            <a:endParaRPr b="0" i="0" sz="1750" u="none" cap="none" strike="noStrike"/>
          </a:p>
        </p:txBody>
      </p:sp>
      <p:sp>
        <p:nvSpPr>
          <p:cNvPr id="92" name="Google Shape;92;p14"/>
          <p:cNvSpPr/>
          <p:nvPr/>
        </p:nvSpPr>
        <p:spPr>
          <a:xfrm>
            <a:off x="3637836" y="3666649"/>
            <a:ext cx="214419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108</a:t>
            </a:r>
            <a:endParaRPr b="0" i="0" sz="1750" u="none" cap="none" strike="noStrike"/>
          </a:p>
        </p:txBody>
      </p:sp>
      <p:sp>
        <p:nvSpPr>
          <p:cNvPr id="93" name="Google Shape;93;p14"/>
          <p:cNvSpPr/>
          <p:nvPr/>
        </p:nvSpPr>
        <p:spPr>
          <a:xfrm>
            <a:off x="6243280" y="3666649"/>
            <a:ext cx="214419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106</a:t>
            </a:r>
            <a:endParaRPr b="0" i="0" sz="1750" u="none" cap="none" strike="noStrike"/>
          </a:p>
        </p:txBody>
      </p:sp>
      <p:sp>
        <p:nvSpPr>
          <p:cNvPr id="94" name="Google Shape;94;p14"/>
          <p:cNvSpPr/>
          <p:nvPr/>
        </p:nvSpPr>
        <p:spPr>
          <a:xfrm>
            <a:off x="8848725" y="3666649"/>
            <a:ext cx="214419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  <a:endParaRPr b="0" i="0" sz="1750" u="none" cap="none" strike="noStrike"/>
          </a:p>
        </p:txBody>
      </p:sp>
      <p:sp>
        <p:nvSpPr>
          <p:cNvPr id="95" name="Google Shape;95;p14"/>
          <p:cNvSpPr/>
          <p:nvPr/>
        </p:nvSpPr>
        <p:spPr>
          <a:xfrm>
            <a:off x="11454170" y="3666649"/>
            <a:ext cx="214800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98.1%</a:t>
            </a:r>
            <a:endParaRPr b="0" i="0" sz="1750" u="none" cap="none" strike="noStrike"/>
          </a:p>
        </p:txBody>
      </p:sp>
      <p:sp>
        <p:nvSpPr>
          <p:cNvPr id="96" name="Google Shape;96;p14"/>
          <p:cNvSpPr/>
          <p:nvPr/>
        </p:nvSpPr>
        <p:spPr>
          <a:xfrm>
            <a:off x="801410" y="4173260"/>
            <a:ext cx="13027581" cy="6503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1028581" y="4316968"/>
            <a:ext cx="214800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API Testing</a:t>
            </a:r>
            <a:endParaRPr b="0" i="0" sz="1750" u="none" cap="none" strike="noStrike"/>
          </a:p>
        </p:txBody>
      </p:sp>
      <p:sp>
        <p:nvSpPr>
          <p:cNvPr id="98" name="Google Shape;98;p14"/>
          <p:cNvSpPr/>
          <p:nvPr/>
        </p:nvSpPr>
        <p:spPr>
          <a:xfrm>
            <a:off x="3637836" y="4316968"/>
            <a:ext cx="214419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28</a:t>
            </a:r>
            <a:endParaRPr b="0" i="0" sz="1750" u="none" cap="none" strike="noStrike"/>
          </a:p>
        </p:txBody>
      </p:sp>
      <p:sp>
        <p:nvSpPr>
          <p:cNvPr id="99" name="Google Shape;99;p14"/>
          <p:cNvSpPr/>
          <p:nvPr/>
        </p:nvSpPr>
        <p:spPr>
          <a:xfrm>
            <a:off x="6243280" y="4316968"/>
            <a:ext cx="214419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20</a:t>
            </a:r>
            <a:endParaRPr b="0" i="0" sz="1750" u="none" cap="none" strike="noStrike"/>
          </a:p>
        </p:txBody>
      </p:sp>
      <p:sp>
        <p:nvSpPr>
          <p:cNvPr id="100" name="Google Shape;100;p14"/>
          <p:cNvSpPr/>
          <p:nvPr/>
        </p:nvSpPr>
        <p:spPr>
          <a:xfrm>
            <a:off x="8848725" y="4316968"/>
            <a:ext cx="214419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8</a:t>
            </a:r>
            <a:endParaRPr b="0" i="0" sz="1750" u="none" cap="none" strike="noStrike"/>
          </a:p>
        </p:txBody>
      </p:sp>
      <p:sp>
        <p:nvSpPr>
          <p:cNvPr id="101" name="Google Shape;101;p14"/>
          <p:cNvSpPr/>
          <p:nvPr/>
        </p:nvSpPr>
        <p:spPr>
          <a:xfrm>
            <a:off x="11454170" y="4316968"/>
            <a:ext cx="214800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71.4%</a:t>
            </a:r>
            <a:endParaRPr b="0" i="0" sz="1750" u="none" cap="none" strike="noStrike"/>
          </a:p>
        </p:txBody>
      </p:sp>
      <p:sp>
        <p:nvSpPr>
          <p:cNvPr id="102" name="Google Shape;102;p14"/>
          <p:cNvSpPr/>
          <p:nvPr/>
        </p:nvSpPr>
        <p:spPr>
          <a:xfrm>
            <a:off x="801410" y="4823579"/>
            <a:ext cx="13027581" cy="1013222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1028581" y="4967288"/>
            <a:ext cx="214800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UI Automation (Java)</a:t>
            </a:r>
            <a:endParaRPr b="0" i="0" sz="1750" u="none" cap="none" strike="noStrike"/>
          </a:p>
        </p:txBody>
      </p:sp>
      <p:sp>
        <p:nvSpPr>
          <p:cNvPr id="104" name="Google Shape;104;p14"/>
          <p:cNvSpPr/>
          <p:nvPr/>
        </p:nvSpPr>
        <p:spPr>
          <a:xfrm>
            <a:off x="3637836" y="4967288"/>
            <a:ext cx="214419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  <a:r>
              <a:rPr lang="en-US" sz="175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8</a:t>
            </a:r>
            <a:endParaRPr b="0" i="0" sz="1750" u="none" cap="none" strike="noStrike"/>
          </a:p>
        </p:txBody>
      </p:sp>
      <p:sp>
        <p:nvSpPr>
          <p:cNvPr id="105" name="Google Shape;105;p14"/>
          <p:cNvSpPr/>
          <p:nvPr/>
        </p:nvSpPr>
        <p:spPr>
          <a:xfrm>
            <a:off x="6243280" y="4967288"/>
            <a:ext cx="214419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  <a:r>
              <a:rPr lang="en-US" sz="175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8</a:t>
            </a:r>
            <a:endParaRPr b="0" i="0" sz="1750" u="none" cap="none" strike="noStrike"/>
          </a:p>
        </p:txBody>
      </p:sp>
      <p:sp>
        <p:nvSpPr>
          <p:cNvPr id="106" name="Google Shape;106;p14"/>
          <p:cNvSpPr/>
          <p:nvPr/>
        </p:nvSpPr>
        <p:spPr>
          <a:xfrm>
            <a:off x="8848725" y="4967288"/>
            <a:ext cx="214419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0</a:t>
            </a:r>
            <a:endParaRPr b="0" i="0" sz="1750" u="none" cap="none" strike="noStrike"/>
          </a:p>
        </p:txBody>
      </p:sp>
      <p:sp>
        <p:nvSpPr>
          <p:cNvPr id="107" name="Google Shape;107;p14"/>
          <p:cNvSpPr/>
          <p:nvPr/>
        </p:nvSpPr>
        <p:spPr>
          <a:xfrm>
            <a:off x="11454170" y="4967288"/>
            <a:ext cx="214800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100%</a:t>
            </a:r>
            <a:endParaRPr b="0" i="0" sz="1750" u="none" cap="none" strike="noStrike"/>
          </a:p>
        </p:txBody>
      </p:sp>
      <p:sp>
        <p:nvSpPr>
          <p:cNvPr id="108" name="Google Shape;108;p14"/>
          <p:cNvSpPr/>
          <p:nvPr/>
        </p:nvSpPr>
        <p:spPr>
          <a:xfrm>
            <a:off x="801410" y="5836801"/>
            <a:ext cx="13027581" cy="6503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1028581" y="5980509"/>
            <a:ext cx="214800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Database</a:t>
            </a:r>
            <a:endParaRPr b="0" i="0" sz="1750" u="none" cap="none" strike="noStrike"/>
          </a:p>
        </p:txBody>
      </p:sp>
      <p:sp>
        <p:nvSpPr>
          <p:cNvPr id="110" name="Google Shape;110;p14"/>
          <p:cNvSpPr/>
          <p:nvPr/>
        </p:nvSpPr>
        <p:spPr>
          <a:xfrm>
            <a:off x="3637836" y="5980509"/>
            <a:ext cx="214419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40</a:t>
            </a:r>
            <a:endParaRPr b="0" i="0" sz="1750" u="none" cap="none" strike="noStrike"/>
          </a:p>
        </p:txBody>
      </p:sp>
      <p:sp>
        <p:nvSpPr>
          <p:cNvPr id="111" name="Google Shape;111;p14"/>
          <p:cNvSpPr/>
          <p:nvPr/>
        </p:nvSpPr>
        <p:spPr>
          <a:xfrm>
            <a:off x="6243280" y="5980509"/>
            <a:ext cx="214419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30</a:t>
            </a:r>
            <a:endParaRPr b="0" i="0" sz="1750" u="none" cap="none" strike="noStrike"/>
          </a:p>
        </p:txBody>
      </p:sp>
      <p:sp>
        <p:nvSpPr>
          <p:cNvPr id="112" name="Google Shape;112;p14"/>
          <p:cNvSpPr/>
          <p:nvPr/>
        </p:nvSpPr>
        <p:spPr>
          <a:xfrm>
            <a:off x="8848725" y="5980509"/>
            <a:ext cx="214419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10</a:t>
            </a:r>
            <a:endParaRPr b="0" i="0" sz="1750" u="none" cap="none" strike="noStrike"/>
          </a:p>
        </p:txBody>
      </p:sp>
      <p:sp>
        <p:nvSpPr>
          <p:cNvPr id="113" name="Google Shape;113;p14"/>
          <p:cNvSpPr/>
          <p:nvPr/>
        </p:nvSpPr>
        <p:spPr>
          <a:xfrm>
            <a:off x="11454170" y="5980509"/>
            <a:ext cx="214800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75.0%</a:t>
            </a:r>
            <a:endParaRPr b="0" i="0" sz="1750" u="none" cap="none" strike="noStrike"/>
          </a:p>
        </p:txBody>
      </p:sp>
      <p:sp>
        <p:nvSpPr>
          <p:cNvPr id="114" name="Google Shape;114;p14"/>
          <p:cNvSpPr/>
          <p:nvPr/>
        </p:nvSpPr>
        <p:spPr>
          <a:xfrm>
            <a:off x="801410" y="6487120"/>
            <a:ext cx="13027581" cy="650319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1028581" y="6630829"/>
            <a:ext cx="214800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Total Project</a:t>
            </a:r>
            <a:endParaRPr b="0" i="0" sz="1750" u="none" cap="none" strike="noStrike"/>
          </a:p>
        </p:txBody>
      </p:sp>
      <p:sp>
        <p:nvSpPr>
          <p:cNvPr id="116" name="Google Shape;116;p14"/>
          <p:cNvSpPr/>
          <p:nvPr/>
        </p:nvSpPr>
        <p:spPr>
          <a:xfrm>
            <a:off x="3637836" y="6630829"/>
            <a:ext cx="214419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193</a:t>
            </a:r>
            <a:endParaRPr b="0" i="0" sz="1750" u="none" cap="none" strike="noStrike"/>
          </a:p>
        </p:txBody>
      </p:sp>
      <p:sp>
        <p:nvSpPr>
          <p:cNvPr id="117" name="Google Shape;117;p14"/>
          <p:cNvSpPr/>
          <p:nvPr/>
        </p:nvSpPr>
        <p:spPr>
          <a:xfrm>
            <a:off x="6243280" y="6630829"/>
            <a:ext cx="214419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173</a:t>
            </a:r>
            <a:endParaRPr b="0" i="0" sz="1750" u="none" cap="none" strike="noStrike"/>
          </a:p>
        </p:txBody>
      </p:sp>
      <p:sp>
        <p:nvSpPr>
          <p:cNvPr id="118" name="Google Shape;118;p14"/>
          <p:cNvSpPr/>
          <p:nvPr/>
        </p:nvSpPr>
        <p:spPr>
          <a:xfrm>
            <a:off x="8848725" y="6630829"/>
            <a:ext cx="214419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20</a:t>
            </a:r>
            <a:endParaRPr b="0" i="0" sz="1750" u="none" cap="none" strike="noStrike"/>
          </a:p>
        </p:txBody>
      </p:sp>
      <p:sp>
        <p:nvSpPr>
          <p:cNvPr id="119" name="Google Shape;119;p14"/>
          <p:cNvSpPr/>
          <p:nvPr/>
        </p:nvSpPr>
        <p:spPr>
          <a:xfrm>
            <a:off x="11454170" y="6630829"/>
            <a:ext cx="214800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89.6%</a:t>
            </a:r>
            <a:endParaRPr b="0" i="0" sz="1750" u="none" cap="none" strike="noStrike"/>
          </a:p>
        </p:txBody>
      </p:sp>
      <p:sp>
        <p:nvSpPr>
          <p:cNvPr id="120" name="Google Shape;120;p14"/>
          <p:cNvSpPr/>
          <p:nvPr/>
        </p:nvSpPr>
        <p:spPr>
          <a:xfrm>
            <a:off x="12841650" y="7630300"/>
            <a:ext cx="1680600" cy="512700"/>
          </a:xfrm>
          <a:prstGeom prst="rect">
            <a:avLst/>
          </a:prstGeom>
          <a:solidFill>
            <a:srgbClr val="EEEEF4"/>
          </a:solidFill>
          <a:ln cap="flat" cmpd="sng" w="9525">
            <a:solidFill>
              <a:srgbClr val="EE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5"/>
          <p:cNvSpPr/>
          <p:nvPr/>
        </p:nvSpPr>
        <p:spPr>
          <a:xfrm>
            <a:off x="793790" y="734735"/>
            <a:ext cx="9589294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4450"/>
              <a:buFont typeface="Outfit"/>
              <a:buNone/>
            </a:pPr>
            <a:r>
              <a:rPr b="1" i="0" lang="en-US" sz="4450" u="none" cap="none" strike="noStrike">
                <a:solidFill>
                  <a:srgbClr val="231971"/>
                </a:solidFill>
                <a:latin typeface="Outfit"/>
                <a:ea typeface="Outfit"/>
                <a:cs typeface="Outfit"/>
                <a:sym typeface="Outfit"/>
              </a:rPr>
              <a:t>3. Manual Testing Analysis (UI Focus)</a:t>
            </a:r>
            <a:endParaRPr b="0" i="0" sz="4450" u="none" cap="none" strike="noStrike"/>
          </a:p>
        </p:txBody>
      </p:sp>
      <p:sp>
        <p:nvSpPr>
          <p:cNvPr id="127" name="Google Shape;127;p15"/>
          <p:cNvSpPr/>
          <p:nvPr/>
        </p:nvSpPr>
        <p:spPr>
          <a:xfrm>
            <a:off x="793790" y="1897142"/>
            <a:ext cx="4196358" cy="5597723"/>
          </a:xfrm>
          <a:prstGeom prst="roundRect">
            <a:avLst>
              <a:gd fmla="val 3486" name="adj"/>
            </a:avLst>
          </a:prstGeom>
          <a:solidFill>
            <a:srgbClr val="FAFAFA">
              <a:alpha val="94901"/>
            </a:srgbClr>
          </a:solidFill>
          <a:ln cap="flat" cmpd="sng" w="3047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763310" y="1897142"/>
            <a:ext cx="121920" cy="5597723"/>
          </a:xfrm>
          <a:prstGeom prst="roundRect">
            <a:avLst>
              <a:gd fmla="val 78139" name="adj"/>
            </a:avLst>
          </a:prstGeom>
          <a:solidFill>
            <a:srgbClr val="5E4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1142524" y="215443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"/>
                <a:ea typeface="Outfit"/>
                <a:cs typeface="Outfit"/>
                <a:sym typeface="Outfit"/>
              </a:rPr>
              <a:t>Metrics</a:t>
            </a:r>
            <a:endParaRPr b="0" i="0" sz="2200" u="none" cap="none" strike="noStrike"/>
          </a:p>
        </p:txBody>
      </p:sp>
      <p:sp>
        <p:nvSpPr>
          <p:cNvPr id="130" name="Google Shape;130;p15"/>
          <p:cNvSpPr/>
          <p:nvPr/>
        </p:nvSpPr>
        <p:spPr>
          <a:xfrm>
            <a:off x="1142524" y="2644854"/>
            <a:ext cx="359033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Total Scenarios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108</a:t>
            </a:r>
            <a:endParaRPr b="0" i="0" sz="1750" u="none" cap="none" strike="noStrike"/>
          </a:p>
        </p:txBody>
      </p:sp>
      <p:sp>
        <p:nvSpPr>
          <p:cNvPr id="131" name="Google Shape;131;p15"/>
          <p:cNvSpPr/>
          <p:nvPr/>
        </p:nvSpPr>
        <p:spPr>
          <a:xfrm>
            <a:off x="1142524" y="3087053"/>
            <a:ext cx="359033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Passed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106</a:t>
            </a:r>
            <a:endParaRPr b="0" i="0" sz="1750" u="none" cap="none" strike="noStrike"/>
          </a:p>
        </p:txBody>
      </p:sp>
      <p:sp>
        <p:nvSpPr>
          <p:cNvPr id="132" name="Google Shape;132;p15"/>
          <p:cNvSpPr/>
          <p:nvPr/>
        </p:nvSpPr>
        <p:spPr>
          <a:xfrm>
            <a:off x="1142524" y="3529251"/>
            <a:ext cx="359033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Failed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2</a:t>
            </a:r>
            <a:endParaRPr b="0" i="0" sz="1750" u="none" cap="none" strike="noStrike"/>
          </a:p>
        </p:txBody>
      </p:sp>
      <p:sp>
        <p:nvSpPr>
          <p:cNvPr id="133" name="Google Shape;133;p15"/>
          <p:cNvSpPr/>
          <p:nvPr/>
        </p:nvSpPr>
        <p:spPr>
          <a:xfrm>
            <a:off x="1142524" y="3971449"/>
            <a:ext cx="359033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Success Rate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98.1%</a:t>
            </a:r>
            <a:endParaRPr b="0" i="0" sz="1750" u="none" cap="none" strike="noStrike"/>
          </a:p>
        </p:txBody>
      </p:sp>
      <p:sp>
        <p:nvSpPr>
          <p:cNvPr id="134" name="Google Shape;134;p15"/>
          <p:cNvSpPr/>
          <p:nvPr/>
        </p:nvSpPr>
        <p:spPr>
          <a:xfrm>
            <a:off x="5216962" y="1897142"/>
            <a:ext cx="4196358" cy="5597723"/>
          </a:xfrm>
          <a:prstGeom prst="roundRect">
            <a:avLst>
              <a:gd fmla="val 3486" name="adj"/>
            </a:avLst>
          </a:prstGeom>
          <a:solidFill>
            <a:srgbClr val="FAFAFA">
              <a:alpha val="94901"/>
            </a:srgbClr>
          </a:solidFill>
          <a:ln cap="flat" cmpd="sng" w="3047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5186482" y="1897142"/>
            <a:ext cx="121920" cy="5597723"/>
          </a:xfrm>
          <a:prstGeom prst="roundRect">
            <a:avLst>
              <a:gd fmla="val 78139" name="adj"/>
            </a:avLst>
          </a:prstGeom>
          <a:solidFill>
            <a:srgbClr val="5E4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5565696" y="215443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"/>
                <a:ea typeface="Outfit"/>
                <a:cs typeface="Outfit"/>
                <a:sym typeface="Outfit"/>
              </a:rPr>
              <a:t>Validated Modules</a:t>
            </a:r>
            <a:endParaRPr b="0" i="0" sz="2200" u="none" cap="none" strike="noStrike"/>
          </a:p>
        </p:txBody>
      </p:sp>
      <p:sp>
        <p:nvSpPr>
          <p:cNvPr id="137" name="Google Shape;137;p15"/>
          <p:cNvSpPr/>
          <p:nvPr/>
        </p:nvSpPr>
        <p:spPr>
          <a:xfrm>
            <a:off x="5565696" y="2644854"/>
            <a:ext cx="359033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User Registration &amp; Login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Verified valid/invalid flows.</a:t>
            </a:r>
            <a:endParaRPr b="0" i="0" sz="1750" u="none" cap="none" strike="noStrike"/>
          </a:p>
        </p:txBody>
      </p:sp>
      <p:sp>
        <p:nvSpPr>
          <p:cNvPr id="138" name="Google Shape;138;p15"/>
          <p:cNvSpPr/>
          <p:nvPr/>
        </p:nvSpPr>
        <p:spPr>
          <a:xfrm>
            <a:off x="5565696" y="3449955"/>
            <a:ext cx="3590330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Search Functionality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Validated basic search, advanced search, and tag search.</a:t>
            </a:r>
            <a:endParaRPr b="0" i="0" sz="1750" u="none" cap="none" strike="noStrike"/>
          </a:p>
        </p:txBody>
      </p:sp>
      <p:sp>
        <p:nvSpPr>
          <p:cNvPr id="139" name="Google Shape;139;p15"/>
          <p:cNvSpPr/>
          <p:nvPr/>
        </p:nvSpPr>
        <p:spPr>
          <a:xfrm>
            <a:off x="5565696" y="4980861"/>
            <a:ext cx="359033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Shopping Cart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Adding/Removing items, updating quantities.</a:t>
            </a:r>
            <a:endParaRPr b="0" i="0" sz="1750" u="none" cap="none" strike="noStrike"/>
          </a:p>
        </p:txBody>
      </p:sp>
      <p:sp>
        <p:nvSpPr>
          <p:cNvPr id="140" name="Google Shape;140;p15"/>
          <p:cNvSpPr/>
          <p:nvPr/>
        </p:nvSpPr>
        <p:spPr>
          <a:xfrm>
            <a:off x="5565696" y="6148864"/>
            <a:ext cx="359033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Checkout Process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Address selection, Shipping method, Payment method.</a:t>
            </a:r>
            <a:endParaRPr b="0" i="0" sz="1750" u="none" cap="none" strike="noStrike"/>
          </a:p>
        </p:txBody>
      </p:sp>
      <p:sp>
        <p:nvSpPr>
          <p:cNvPr id="141" name="Google Shape;141;p15"/>
          <p:cNvSpPr/>
          <p:nvPr/>
        </p:nvSpPr>
        <p:spPr>
          <a:xfrm>
            <a:off x="9640133" y="1897142"/>
            <a:ext cx="4196358" cy="5597723"/>
          </a:xfrm>
          <a:prstGeom prst="roundRect">
            <a:avLst>
              <a:gd fmla="val 3486" name="adj"/>
            </a:avLst>
          </a:prstGeom>
          <a:solidFill>
            <a:srgbClr val="FAFAFA">
              <a:alpha val="94901"/>
            </a:srgbClr>
          </a:solidFill>
          <a:ln cap="flat" cmpd="sng" w="3047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9609653" y="1897142"/>
            <a:ext cx="121920" cy="5597723"/>
          </a:xfrm>
          <a:prstGeom prst="roundRect">
            <a:avLst>
              <a:gd fmla="val 78139" name="adj"/>
            </a:avLst>
          </a:prstGeom>
          <a:solidFill>
            <a:srgbClr val="5E4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5"/>
          <p:cNvSpPr/>
          <p:nvPr/>
        </p:nvSpPr>
        <p:spPr>
          <a:xfrm>
            <a:off x="9988868" y="2154436"/>
            <a:ext cx="3590330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"/>
                <a:ea typeface="Outfit"/>
                <a:cs typeface="Outfit"/>
                <a:sym typeface="Outfit"/>
              </a:rPr>
              <a:t>Key Defects Found (The 2 Failures)</a:t>
            </a:r>
            <a:endParaRPr b="0" i="0" sz="2200" u="none" cap="none" strike="noStrike"/>
          </a:p>
        </p:txBody>
      </p:sp>
      <p:sp>
        <p:nvSpPr>
          <p:cNvPr id="144" name="Google Shape;144;p15"/>
          <p:cNvSpPr/>
          <p:nvPr/>
        </p:nvSpPr>
        <p:spPr>
          <a:xfrm>
            <a:off x="9988868" y="2999184"/>
            <a:ext cx="3590330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Search Defect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TC_SR_06 - "Search in Product Descriptions" checkbox fails to return relevant items.</a:t>
            </a:r>
            <a:endParaRPr b="0" i="0" sz="1750" u="none" cap="none" strike="noStrike"/>
          </a:p>
        </p:txBody>
      </p:sp>
      <p:sp>
        <p:nvSpPr>
          <p:cNvPr id="145" name="Google Shape;145;p15"/>
          <p:cNvSpPr/>
          <p:nvPr/>
        </p:nvSpPr>
        <p:spPr>
          <a:xfrm>
            <a:off x="9988868" y="4530090"/>
            <a:ext cx="3590330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Checkout Defect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TC_CO_02 - System allows proceeding with invalid/empty Postcodes in specific legacy browser versions.</a:t>
            </a:r>
            <a:endParaRPr b="0" i="0" sz="1750" u="none" cap="none" strike="noStrike"/>
          </a:p>
        </p:txBody>
      </p:sp>
      <p:sp>
        <p:nvSpPr>
          <p:cNvPr id="146" name="Google Shape;146;p15"/>
          <p:cNvSpPr/>
          <p:nvPr/>
        </p:nvSpPr>
        <p:spPr>
          <a:xfrm>
            <a:off x="12841650" y="7612975"/>
            <a:ext cx="1680600" cy="512700"/>
          </a:xfrm>
          <a:prstGeom prst="rect">
            <a:avLst/>
          </a:prstGeom>
          <a:solidFill>
            <a:srgbClr val="EEEEF4"/>
          </a:solidFill>
          <a:ln cap="flat" cmpd="sng" w="9525">
            <a:solidFill>
              <a:srgbClr val="EE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/>
          <p:nvPr/>
        </p:nvSpPr>
        <p:spPr>
          <a:xfrm>
            <a:off x="793790" y="1086326"/>
            <a:ext cx="11115556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4450"/>
              <a:buFont typeface="Outfit"/>
              <a:buNone/>
            </a:pPr>
            <a:r>
              <a:rPr b="1" i="0" lang="en-US" sz="4450" u="none" cap="none" strike="noStrike">
                <a:solidFill>
                  <a:srgbClr val="231971"/>
                </a:solidFill>
                <a:latin typeface="Outfit"/>
                <a:ea typeface="Outfit"/>
                <a:cs typeface="Outfit"/>
                <a:sym typeface="Outfit"/>
              </a:rPr>
              <a:t>4. API Testing Analysis (Postman / Manual)</a:t>
            </a:r>
            <a:endParaRPr b="0" i="0" sz="4450" u="none" cap="none" strike="noStrike"/>
          </a:p>
        </p:txBody>
      </p:sp>
      <p:sp>
        <p:nvSpPr>
          <p:cNvPr id="153" name="Google Shape;153;p16"/>
          <p:cNvSpPr/>
          <p:nvPr/>
        </p:nvSpPr>
        <p:spPr>
          <a:xfrm>
            <a:off x="793790" y="2135267"/>
            <a:ext cx="4196358" cy="5008007"/>
          </a:xfrm>
          <a:prstGeom prst="roundRect">
            <a:avLst>
              <a:gd fmla="val 3486" name="adj"/>
            </a:avLst>
          </a:prstGeom>
          <a:solidFill>
            <a:srgbClr val="FAFAFA">
              <a:alpha val="94901"/>
            </a:srgbClr>
          </a:solidFill>
          <a:ln cap="flat" cmpd="sng" w="3047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763310" y="2135267"/>
            <a:ext cx="121920" cy="5008007"/>
          </a:xfrm>
          <a:prstGeom prst="roundRect">
            <a:avLst>
              <a:gd fmla="val 78139" name="adj"/>
            </a:avLst>
          </a:prstGeom>
          <a:solidFill>
            <a:srgbClr val="5E4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1142524" y="239256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"/>
                <a:ea typeface="Outfit"/>
                <a:cs typeface="Outfit"/>
                <a:sym typeface="Outfit"/>
              </a:rPr>
              <a:t>Metrics</a:t>
            </a:r>
            <a:endParaRPr b="0" i="0" sz="2200" u="none" cap="none" strike="noStrike"/>
          </a:p>
        </p:txBody>
      </p:sp>
      <p:sp>
        <p:nvSpPr>
          <p:cNvPr id="156" name="Google Shape;156;p16"/>
          <p:cNvSpPr/>
          <p:nvPr/>
        </p:nvSpPr>
        <p:spPr>
          <a:xfrm>
            <a:off x="1142524" y="2882979"/>
            <a:ext cx="359033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Total Scenarios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28 (14 Positive, 14 Negative)</a:t>
            </a:r>
            <a:endParaRPr b="0" i="0" sz="1750" u="none" cap="none" strike="noStrike"/>
          </a:p>
        </p:txBody>
      </p:sp>
      <p:sp>
        <p:nvSpPr>
          <p:cNvPr id="157" name="Google Shape;157;p16"/>
          <p:cNvSpPr/>
          <p:nvPr/>
        </p:nvSpPr>
        <p:spPr>
          <a:xfrm>
            <a:off x="1142524" y="3688080"/>
            <a:ext cx="359033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Passed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20</a:t>
            </a:r>
            <a:endParaRPr b="0" i="0" sz="1750" u="none" cap="none" strike="noStrike"/>
          </a:p>
        </p:txBody>
      </p:sp>
      <p:sp>
        <p:nvSpPr>
          <p:cNvPr id="158" name="Google Shape;158;p16"/>
          <p:cNvSpPr/>
          <p:nvPr/>
        </p:nvSpPr>
        <p:spPr>
          <a:xfrm>
            <a:off x="1142524" y="4130278"/>
            <a:ext cx="359033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Failed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8</a:t>
            </a:r>
            <a:endParaRPr b="0" i="0" sz="1750" u="none" cap="none" strike="noStrike"/>
          </a:p>
        </p:txBody>
      </p:sp>
      <p:sp>
        <p:nvSpPr>
          <p:cNvPr id="159" name="Google Shape;159;p16"/>
          <p:cNvSpPr/>
          <p:nvPr/>
        </p:nvSpPr>
        <p:spPr>
          <a:xfrm>
            <a:off x="1142524" y="4572476"/>
            <a:ext cx="359033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Success Rate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71.4%</a:t>
            </a:r>
            <a:endParaRPr b="0" i="0" sz="1750" u="none" cap="none" strike="noStrike"/>
          </a:p>
        </p:txBody>
      </p:sp>
      <p:sp>
        <p:nvSpPr>
          <p:cNvPr id="160" name="Google Shape;160;p16"/>
          <p:cNvSpPr/>
          <p:nvPr/>
        </p:nvSpPr>
        <p:spPr>
          <a:xfrm>
            <a:off x="1142524" y="5071467"/>
            <a:ext cx="3590330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7EBD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007EBD"/>
                </a:solidFill>
                <a:latin typeface="Arimo"/>
                <a:ea typeface="Arimo"/>
                <a:cs typeface="Arimo"/>
                <a:sym typeface="Arimo"/>
              </a:rPr>
              <a:t>Scope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Dedicated validation of the backend API endpoints </a:t>
            </a:r>
            <a:r>
              <a:rPr b="0" i="0" lang="en-US" sz="1750" u="sng" cap="none" strike="noStrike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3"/>
              </a:rPr>
              <a:t>https://automationexercise.com/api/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covering Products, Brands, and Account Management.</a:t>
            </a:r>
            <a:endParaRPr b="0" i="0" sz="1750" u="none" cap="none" strike="noStrike"/>
          </a:p>
        </p:txBody>
      </p:sp>
      <p:sp>
        <p:nvSpPr>
          <p:cNvPr id="161" name="Google Shape;161;p16"/>
          <p:cNvSpPr/>
          <p:nvPr/>
        </p:nvSpPr>
        <p:spPr>
          <a:xfrm>
            <a:off x="5216962" y="2135267"/>
            <a:ext cx="4196358" cy="5008007"/>
          </a:xfrm>
          <a:prstGeom prst="roundRect">
            <a:avLst>
              <a:gd fmla="val 3486" name="adj"/>
            </a:avLst>
          </a:prstGeom>
          <a:solidFill>
            <a:srgbClr val="FAFAFA">
              <a:alpha val="94901"/>
            </a:srgbClr>
          </a:solidFill>
          <a:ln cap="flat" cmpd="sng" w="3047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6"/>
          <p:cNvSpPr/>
          <p:nvPr/>
        </p:nvSpPr>
        <p:spPr>
          <a:xfrm>
            <a:off x="5186482" y="2135267"/>
            <a:ext cx="121920" cy="5008007"/>
          </a:xfrm>
          <a:prstGeom prst="roundRect">
            <a:avLst>
              <a:gd fmla="val 78139" name="adj"/>
            </a:avLst>
          </a:prstGeom>
          <a:solidFill>
            <a:srgbClr val="5E4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6"/>
          <p:cNvSpPr/>
          <p:nvPr/>
        </p:nvSpPr>
        <p:spPr>
          <a:xfrm>
            <a:off x="5565696" y="2392561"/>
            <a:ext cx="332541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"/>
                <a:ea typeface="Outfit"/>
                <a:cs typeface="Outfit"/>
                <a:sym typeface="Outfit"/>
              </a:rPr>
              <a:t>Positive Testing (14 Tests)</a:t>
            </a:r>
            <a:endParaRPr b="0" i="0" sz="2200" u="none" cap="none" strike="noStrike"/>
          </a:p>
        </p:txBody>
      </p:sp>
      <p:sp>
        <p:nvSpPr>
          <p:cNvPr id="164" name="Google Shape;164;p16"/>
          <p:cNvSpPr/>
          <p:nvPr/>
        </p:nvSpPr>
        <p:spPr>
          <a:xfrm>
            <a:off x="5565696" y="2882979"/>
            <a:ext cx="359033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Focus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Verifying standard happy-path requests (GET/POST/DELETE).</a:t>
            </a:r>
            <a:endParaRPr b="0" i="0" sz="1750" u="none" cap="none" strike="noStrike"/>
          </a:p>
        </p:txBody>
      </p:sp>
      <p:sp>
        <p:nvSpPr>
          <p:cNvPr id="165" name="Google Shape;165;p16"/>
          <p:cNvSpPr/>
          <p:nvPr/>
        </p:nvSpPr>
        <p:spPr>
          <a:xfrm>
            <a:off x="5565696" y="4050983"/>
            <a:ext cx="359033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Failures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6 Tests failed.</a:t>
            </a:r>
            <a:endParaRPr b="0" i="0" sz="1750" u="none" cap="none" strike="noStrike"/>
          </a:p>
        </p:txBody>
      </p:sp>
      <p:sp>
        <p:nvSpPr>
          <p:cNvPr id="166" name="Google Shape;166;p16"/>
          <p:cNvSpPr/>
          <p:nvPr/>
        </p:nvSpPr>
        <p:spPr>
          <a:xfrm>
            <a:off x="5565696" y="4493181"/>
            <a:ext cx="3590330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Major Issue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The API returns 200 OK for failed actions (e.g., API 12 Delete Account returns 200 instead of 201).</a:t>
            </a:r>
            <a:endParaRPr b="0" i="0" sz="1750" u="none" cap="none" strike="noStrike"/>
          </a:p>
        </p:txBody>
      </p:sp>
      <p:sp>
        <p:nvSpPr>
          <p:cNvPr id="167" name="Google Shape;167;p16"/>
          <p:cNvSpPr/>
          <p:nvPr/>
        </p:nvSpPr>
        <p:spPr>
          <a:xfrm>
            <a:off x="9640133" y="2135267"/>
            <a:ext cx="4196358" cy="5008007"/>
          </a:xfrm>
          <a:prstGeom prst="roundRect">
            <a:avLst>
              <a:gd fmla="val 3486" name="adj"/>
            </a:avLst>
          </a:prstGeom>
          <a:solidFill>
            <a:srgbClr val="FAFAFA">
              <a:alpha val="94901"/>
            </a:srgbClr>
          </a:solidFill>
          <a:ln cap="flat" cmpd="sng" w="3047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9609653" y="2135267"/>
            <a:ext cx="121920" cy="5008007"/>
          </a:xfrm>
          <a:prstGeom prst="roundRect">
            <a:avLst>
              <a:gd fmla="val 78139" name="adj"/>
            </a:avLst>
          </a:prstGeom>
          <a:solidFill>
            <a:srgbClr val="5E4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6"/>
          <p:cNvSpPr/>
          <p:nvPr/>
        </p:nvSpPr>
        <p:spPr>
          <a:xfrm>
            <a:off x="9988868" y="2392561"/>
            <a:ext cx="347924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"/>
                <a:ea typeface="Outfit"/>
                <a:cs typeface="Outfit"/>
                <a:sym typeface="Outfit"/>
              </a:rPr>
              <a:t>Negative Testing (14 Tests)</a:t>
            </a:r>
            <a:endParaRPr b="0" i="0" sz="2200" u="none" cap="none" strike="noStrike"/>
          </a:p>
        </p:txBody>
      </p:sp>
      <p:sp>
        <p:nvSpPr>
          <p:cNvPr id="170" name="Google Shape;170;p16"/>
          <p:cNvSpPr/>
          <p:nvPr/>
        </p:nvSpPr>
        <p:spPr>
          <a:xfrm>
            <a:off x="9988868" y="2882979"/>
            <a:ext cx="359033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Focus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Sending invalid data (null emails, bad passwords) to ensure system rejection.</a:t>
            </a:r>
            <a:endParaRPr b="0" i="0" sz="1750" u="none" cap="none" strike="noStrike"/>
          </a:p>
        </p:txBody>
      </p:sp>
      <p:sp>
        <p:nvSpPr>
          <p:cNvPr id="171" name="Google Shape;171;p16"/>
          <p:cNvSpPr/>
          <p:nvPr/>
        </p:nvSpPr>
        <p:spPr>
          <a:xfrm>
            <a:off x="9988868" y="4050983"/>
            <a:ext cx="359033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Failures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2 Tests failed.</a:t>
            </a:r>
            <a:endParaRPr b="0" i="0" sz="1750" u="none" cap="none" strike="noStrike"/>
          </a:p>
        </p:txBody>
      </p:sp>
      <p:sp>
        <p:nvSpPr>
          <p:cNvPr id="172" name="Google Shape;172;p16"/>
          <p:cNvSpPr/>
          <p:nvPr/>
        </p:nvSpPr>
        <p:spPr>
          <a:xfrm>
            <a:off x="9988868" y="4493181"/>
            <a:ext cx="3590330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Major Issue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API 8_N and API 10_N (Invalid login attempts) returned 200 OK success statuses instead of 400/401 errors, posing a security risk.</a:t>
            </a:r>
            <a:endParaRPr b="0" i="0" sz="1750" u="none" cap="none" strike="noStrike"/>
          </a:p>
        </p:txBody>
      </p:sp>
      <p:sp>
        <p:nvSpPr>
          <p:cNvPr id="173" name="Google Shape;173;p16"/>
          <p:cNvSpPr/>
          <p:nvPr/>
        </p:nvSpPr>
        <p:spPr>
          <a:xfrm>
            <a:off x="12841650" y="7612975"/>
            <a:ext cx="1680600" cy="512700"/>
          </a:xfrm>
          <a:prstGeom prst="rect">
            <a:avLst/>
          </a:prstGeom>
          <a:solidFill>
            <a:srgbClr val="EEEEF4"/>
          </a:solidFill>
          <a:ln cap="flat" cmpd="sng" w="9525">
            <a:solidFill>
              <a:srgbClr val="EE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9" name="Google Shape;17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6576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/>
          <p:nvPr/>
        </p:nvSpPr>
        <p:spPr>
          <a:xfrm>
            <a:off x="4343043" y="649605"/>
            <a:ext cx="9403556" cy="6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75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3850"/>
              <a:buFont typeface="Outfit"/>
              <a:buNone/>
            </a:pPr>
            <a:r>
              <a:rPr b="1" i="0" lang="en-US" sz="3850" u="none" cap="none" strike="noStrike">
                <a:solidFill>
                  <a:srgbClr val="231971"/>
                </a:solidFill>
                <a:latin typeface="Outfit"/>
                <a:ea typeface="Outfit"/>
                <a:cs typeface="Outfit"/>
                <a:sym typeface="Outfit"/>
              </a:rPr>
              <a:t>5. Automated UI Testing (Java / Selenium)</a:t>
            </a:r>
            <a:endParaRPr b="0" i="0" sz="3850" u="none" cap="none" strike="noStrike"/>
          </a:p>
        </p:txBody>
      </p:sp>
      <p:sp>
        <p:nvSpPr>
          <p:cNvPr id="181" name="Google Shape;181;p17"/>
          <p:cNvSpPr/>
          <p:nvPr/>
        </p:nvSpPr>
        <p:spPr>
          <a:xfrm>
            <a:off x="4343043" y="1751290"/>
            <a:ext cx="2448282" cy="305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1900"/>
              <a:buFont typeface="Outfit"/>
              <a:buNone/>
            </a:pPr>
            <a:r>
              <a:rPr b="1" i="0" lang="en-US" sz="1900" u="none" cap="none" strike="noStrike">
                <a:solidFill>
                  <a:srgbClr val="231971"/>
                </a:solidFill>
                <a:latin typeface="Outfit"/>
                <a:ea typeface="Outfit"/>
                <a:cs typeface="Outfit"/>
                <a:sym typeface="Outfit"/>
              </a:rPr>
              <a:t>Metrics</a:t>
            </a:r>
            <a:endParaRPr b="0" i="0" sz="1900" u="none" cap="none" strike="noStrike"/>
          </a:p>
        </p:txBody>
      </p:sp>
      <p:sp>
        <p:nvSpPr>
          <p:cNvPr id="182" name="Google Shape;182;p17"/>
          <p:cNvSpPr/>
          <p:nvPr/>
        </p:nvSpPr>
        <p:spPr>
          <a:xfrm>
            <a:off x="4343043" y="2253139"/>
            <a:ext cx="4561999" cy="313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500"/>
              <a:buFont typeface="Arimo"/>
              <a:buNone/>
            </a:pPr>
            <a:r>
              <a:rPr b="1" i="0" lang="en-US" sz="15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Total Scripts</a:t>
            </a:r>
            <a:r>
              <a:rPr b="0" i="0" lang="en-US" sz="15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1</a:t>
            </a:r>
            <a:r>
              <a:rPr lang="en-US" sz="15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8</a:t>
            </a:r>
            <a:endParaRPr b="0" i="0" sz="1500" u="none" cap="none" strike="noStrike"/>
          </a:p>
        </p:txBody>
      </p:sp>
      <p:sp>
        <p:nvSpPr>
          <p:cNvPr id="183" name="Google Shape;183;p17"/>
          <p:cNvSpPr/>
          <p:nvPr/>
        </p:nvSpPr>
        <p:spPr>
          <a:xfrm>
            <a:off x="4343043" y="2634972"/>
            <a:ext cx="4561999" cy="626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500"/>
              <a:buFont typeface="Arimo"/>
              <a:buNone/>
            </a:pPr>
            <a:r>
              <a:rPr b="1" i="0" lang="en-US" sz="15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Status</a:t>
            </a:r>
            <a:r>
              <a:rPr b="0" i="0" lang="en-US" sz="15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Passing (Integrated into Regression Suite)</a:t>
            </a:r>
            <a:endParaRPr b="0" i="0" sz="1500" u="none" cap="none" strike="noStrike"/>
          </a:p>
        </p:txBody>
      </p:sp>
      <p:sp>
        <p:nvSpPr>
          <p:cNvPr id="184" name="Google Shape;184;p17"/>
          <p:cNvSpPr/>
          <p:nvPr/>
        </p:nvSpPr>
        <p:spPr>
          <a:xfrm>
            <a:off x="4343043" y="3457575"/>
            <a:ext cx="2448282" cy="305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1900"/>
              <a:buFont typeface="Outfit"/>
              <a:buNone/>
            </a:pPr>
            <a:r>
              <a:rPr b="1" i="0" lang="en-US" sz="1900" u="none" cap="none" strike="noStrike">
                <a:solidFill>
                  <a:srgbClr val="231971"/>
                </a:solidFill>
                <a:latin typeface="Outfit"/>
                <a:ea typeface="Outfit"/>
                <a:cs typeface="Outfit"/>
                <a:sym typeface="Outfit"/>
              </a:rPr>
              <a:t>Technology Stack</a:t>
            </a:r>
            <a:endParaRPr b="0" i="0" sz="1900" u="none" cap="none" strike="noStrike"/>
          </a:p>
        </p:txBody>
      </p:sp>
      <p:sp>
        <p:nvSpPr>
          <p:cNvPr id="185" name="Google Shape;185;p17"/>
          <p:cNvSpPr/>
          <p:nvPr/>
        </p:nvSpPr>
        <p:spPr>
          <a:xfrm>
            <a:off x="4343043" y="3959423"/>
            <a:ext cx="4561999" cy="313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500"/>
              <a:buFont typeface="Arimo"/>
              <a:buNone/>
            </a:pPr>
            <a:r>
              <a:rPr b="1" i="0" lang="en-US" sz="15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Language</a:t>
            </a:r>
            <a:r>
              <a:rPr b="0" i="0" lang="en-US" sz="15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Java</a:t>
            </a:r>
            <a:endParaRPr b="0" i="0" sz="1500" u="none" cap="none" strike="noStrike"/>
          </a:p>
        </p:txBody>
      </p:sp>
      <p:sp>
        <p:nvSpPr>
          <p:cNvPr id="186" name="Google Shape;186;p17"/>
          <p:cNvSpPr/>
          <p:nvPr/>
        </p:nvSpPr>
        <p:spPr>
          <a:xfrm>
            <a:off x="4343043" y="4341257"/>
            <a:ext cx="4561999" cy="313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500"/>
              <a:buFont typeface="Arimo"/>
              <a:buNone/>
            </a:pPr>
            <a:r>
              <a:rPr b="1" i="0" lang="en-US" sz="15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Library</a:t>
            </a:r>
            <a:r>
              <a:rPr b="0" i="0" lang="en-US" sz="15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Selenium WebDriver</a:t>
            </a:r>
            <a:endParaRPr b="0" i="0" sz="1500" u="none" cap="none" strike="noStrike"/>
          </a:p>
        </p:txBody>
      </p:sp>
      <p:sp>
        <p:nvSpPr>
          <p:cNvPr id="187" name="Google Shape;187;p17"/>
          <p:cNvSpPr/>
          <p:nvPr/>
        </p:nvSpPr>
        <p:spPr>
          <a:xfrm>
            <a:off x="4343043" y="4723090"/>
            <a:ext cx="4561999" cy="313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500"/>
              <a:buFont typeface="Arimo"/>
              <a:buNone/>
            </a:pPr>
            <a:r>
              <a:rPr b="1" i="0" lang="en-US" sz="15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Framework</a:t>
            </a:r>
            <a:r>
              <a:rPr b="0" i="0" lang="en-US" sz="15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TestNG, Cucumber</a:t>
            </a:r>
            <a:endParaRPr b="0" i="0" sz="1500" u="none" cap="none" strike="noStrike"/>
          </a:p>
        </p:txBody>
      </p:sp>
      <p:sp>
        <p:nvSpPr>
          <p:cNvPr id="188" name="Google Shape;188;p17"/>
          <p:cNvSpPr/>
          <p:nvPr/>
        </p:nvSpPr>
        <p:spPr>
          <a:xfrm>
            <a:off x="9390578" y="1751290"/>
            <a:ext cx="2448282" cy="305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1900"/>
              <a:buFont typeface="Outfit"/>
              <a:buNone/>
            </a:pPr>
            <a:r>
              <a:rPr b="1" i="0" lang="en-US" sz="1900" u="none" cap="none" strike="noStrike">
                <a:solidFill>
                  <a:srgbClr val="231971"/>
                </a:solidFill>
                <a:latin typeface="Outfit"/>
                <a:ea typeface="Outfit"/>
                <a:cs typeface="Outfit"/>
                <a:sym typeface="Outfit"/>
              </a:rPr>
              <a:t>Role</a:t>
            </a:r>
            <a:endParaRPr b="0" i="0" sz="1900" u="none" cap="none" strike="noStrike"/>
          </a:p>
        </p:txBody>
      </p:sp>
      <p:sp>
        <p:nvSpPr>
          <p:cNvPr id="189" name="Google Shape;189;p17"/>
          <p:cNvSpPr/>
          <p:nvPr/>
        </p:nvSpPr>
        <p:spPr>
          <a:xfrm>
            <a:off x="9390578" y="2253139"/>
            <a:ext cx="4561999" cy="626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500"/>
              <a:buFont typeface="Arimo"/>
              <a:buNone/>
            </a:pPr>
            <a:r>
              <a:rPr b="0" i="0" lang="en-US" sz="15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This suite runs automatically to verify the "</a:t>
            </a:r>
            <a:r>
              <a:rPr b="0" i="0" lang="en-US" sz="1500" u="none" cap="none" strike="noStrike">
                <a:solidFill>
                  <a:srgbClr val="007EBD"/>
                </a:solidFill>
                <a:latin typeface="Arimo"/>
                <a:ea typeface="Arimo"/>
                <a:cs typeface="Arimo"/>
                <a:sym typeface="Arimo"/>
              </a:rPr>
              <a:t>Critical User Journey</a:t>
            </a:r>
            <a:r>
              <a:rPr b="0" i="0" lang="en-US" sz="15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":</a:t>
            </a:r>
            <a:endParaRPr b="0" i="0" sz="1500" u="none" cap="none" strike="noStrike"/>
          </a:p>
        </p:txBody>
      </p:sp>
      <p:sp>
        <p:nvSpPr>
          <p:cNvPr id="190" name="Google Shape;190;p17"/>
          <p:cNvSpPr/>
          <p:nvPr/>
        </p:nvSpPr>
        <p:spPr>
          <a:xfrm>
            <a:off x="9390578" y="3056096"/>
            <a:ext cx="4561999" cy="1253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007EBD"/>
              </a:buClr>
              <a:buSzPts val="1500"/>
              <a:buFont typeface="Arimo"/>
              <a:buNone/>
            </a:pPr>
            <a:r>
              <a:rPr b="0" i="0" lang="en-US" sz="1500" u="none" cap="none" strike="noStrike">
                <a:solidFill>
                  <a:srgbClr val="007EBD"/>
                </a:solidFill>
                <a:latin typeface="Arimo"/>
                <a:ea typeface="Arimo"/>
                <a:cs typeface="Arimo"/>
                <a:sym typeface="Arimo"/>
              </a:rPr>
              <a:t>Why Separate?</a:t>
            </a:r>
            <a:r>
              <a:rPr b="0" i="0" lang="en-US" sz="15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This automation ensures that every code change doesn't break the core features, while Manual and API testing focus on edge cases and deep-dives.</a:t>
            </a:r>
            <a:endParaRPr b="0" i="0" sz="1500" u="none" cap="none" strike="noStrike"/>
          </a:p>
        </p:txBody>
      </p:sp>
      <p:sp>
        <p:nvSpPr>
          <p:cNvPr id="191" name="Google Shape;191;p17"/>
          <p:cNvSpPr/>
          <p:nvPr/>
        </p:nvSpPr>
        <p:spPr>
          <a:xfrm>
            <a:off x="9390578" y="4485799"/>
            <a:ext cx="4561999" cy="626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500"/>
              <a:buFont typeface="Arimo"/>
              <a:buNone/>
            </a:pPr>
            <a:r>
              <a:rPr b="1" i="0" lang="en-US" sz="15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Home Page Test</a:t>
            </a:r>
            <a:r>
              <a:rPr b="0" i="0" lang="en-US" sz="15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(HomeTest.java): Verifies core landing page elements (Logo, Navigation).</a:t>
            </a:r>
            <a:endParaRPr b="0" i="0" sz="1500" u="none" cap="none" strike="noStrike"/>
          </a:p>
        </p:txBody>
      </p:sp>
      <p:sp>
        <p:nvSpPr>
          <p:cNvPr id="192" name="Google Shape;192;p17"/>
          <p:cNvSpPr/>
          <p:nvPr/>
        </p:nvSpPr>
        <p:spPr>
          <a:xfrm>
            <a:off x="9390578" y="5181005"/>
            <a:ext cx="4561999" cy="626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500"/>
              <a:buFont typeface="Arimo"/>
              <a:buNone/>
            </a:pPr>
            <a:r>
              <a:rPr b="1" i="0" lang="en-US" sz="15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Sign Up Test</a:t>
            </a:r>
            <a:r>
              <a:rPr b="0" i="0" lang="en-US" sz="15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(SignUpPageTest.java): Automates user registration flows.</a:t>
            </a:r>
            <a:endParaRPr b="0" i="0" sz="1500" u="none" cap="none" strike="noStrike"/>
          </a:p>
        </p:txBody>
      </p:sp>
      <p:sp>
        <p:nvSpPr>
          <p:cNvPr id="193" name="Google Shape;193;p17"/>
          <p:cNvSpPr/>
          <p:nvPr/>
        </p:nvSpPr>
        <p:spPr>
          <a:xfrm>
            <a:off x="9390578" y="5876211"/>
            <a:ext cx="4561999" cy="626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500"/>
              <a:buFont typeface="Arimo"/>
              <a:buNone/>
            </a:pPr>
            <a:r>
              <a:rPr b="1" i="0" lang="en-US" sz="15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Login Test</a:t>
            </a:r>
            <a:r>
              <a:rPr b="0" i="0" lang="en-US" sz="15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(LoginPageTest.java): Validates secure authentication.</a:t>
            </a:r>
            <a:endParaRPr b="0" i="0" sz="1500" u="none" cap="none" strike="noStrike"/>
          </a:p>
        </p:txBody>
      </p:sp>
      <p:sp>
        <p:nvSpPr>
          <p:cNvPr id="194" name="Google Shape;194;p17"/>
          <p:cNvSpPr/>
          <p:nvPr/>
        </p:nvSpPr>
        <p:spPr>
          <a:xfrm>
            <a:off x="9390578" y="6571417"/>
            <a:ext cx="4561999" cy="940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500"/>
              <a:buFont typeface="Arimo"/>
              <a:buNone/>
            </a:pPr>
            <a:r>
              <a:rPr b="1" i="0" lang="en-US" sz="15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Cart Test</a:t>
            </a:r>
            <a:r>
              <a:rPr b="0" i="0" lang="en-US" sz="15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(CartPageTest.java): Ensures products can be added and prices are calculated correctly.</a:t>
            </a:r>
            <a:endParaRPr b="0" i="0" sz="1500" u="none" cap="none" strike="noStrike"/>
          </a:p>
        </p:txBody>
      </p:sp>
      <p:sp>
        <p:nvSpPr>
          <p:cNvPr id="195" name="Google Shape;195;p17"/>
          <p:cNvSpPr/>
          <p:nvPr/>
        </p:nvSpPr>
        <p:spPr>
          <a:xfrm>
            <a:off x="12841650" y="7612975"/>
            <a:ext cx="1680600" cy="512700"/>
          </a:xfrm>
          <a:prstGeom prst="rect">
            <a:avLst/>
          </a:prstGeom>
          <a:solidFill>
            <a:srgbClr val="EEEEF4"/>
          </a:solidFill>
          <a:ln cap="flat" cmpd="sng" w="9525">
            <a:solidFill>
              <a:srgbClr val="EE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8"/>
          <p:cNvSpPr/>
          <p:nvPr/>
        </p:nvSpPr>
        <p:spPr>
          <a:xfrm>
            <a:off x="793790" y="1057989"/>
            <a:ext cx="842307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4450"/>
              <a:buFont typeface="Outfit"/>
              <a:buNone/>
            </a:pPr>
            <a:r>
              <a:rPr b="1" i="0" lang="en-US" sz="4450" u="none" cap="none" strike="noStrike">
                <a:solidFill>
                  <a:srgbClr val="231971"/>
                </a:solidFill>
                <a:latin typeface="Outfit"/>
                <a:ea typeface="Outfit"/>
                <a:cs typeface="Outfit"/>
                <a:sym typeface="Outfit"/>
              </a:rPr>
              <a:t>6. Database Testing (Deep Dive)</a:t>
            </a:r>
            <a:endParaRPr b="0" i="0" sz="4450" u="none" cap="none" strike="noStrike"/>
          </a:p>
        </p:txBody>
      </p:sp>
      <p:sp>
        <p:nvSpPr>
          <p:cNvPr id="202" name="Google Shape;202;p18"/>
          <p:cNvSpPr/>
          <p:nvPr/>
        </p:nvSpPr>
        <p:spPr>
          <a:xfrm>
            <a:off x="793790" y="2220397"/>
            <a:ext cx="6407944" cy="4951214"/>
          </a:xfrm>
          <a:prstGeom prst="roundRect">
            <a:avLst>
              <a:gd fmla="val 2955" name="adj"/>
            </a:avLst>
          </a:prstGeom>
          <a:solidFill>
            <a:srgbClr val="FAFAFA">
              <a:alpha val="94901"/>
            </a:srgbClr>
          </a:solidFill>
          <a:ln cap="flat" cmpd="sng" w="3047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8"/>
          <p:cNvSpPr/>
          <p:nvPr/>
        </p:nvSpPr>
        <p:spPr>
          <a:xfrm>
            <a:off x="763310" y="2220397"/>
            <a:ext cx="121920" cy="4951214"/>
          </a:xfrm>
          <a:prstGeom prst="roundRect">
            <a:avLst>
              <a:gd fmla="val 78139" name="adj"/>
            </a:avLst>
          </a:prstGeom>
          <a:solidFill>
            <a:srgbClr val="5E4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8"/>
          <p:cNvSpPr/>
          <p:nvPr/>
        </p:nvSpPr>
        <p:spPr>
          <a:xfrm>
            <a:off x="1142524" y="247769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"/>
                <a:ea typeface="Outfit"/>
                <a:cs typeface="Outfit"/>
                <a:sym typeface="Outfit"/>
              </a:rPr>
              <a:t>Metrics</a:t>
            </a:r>
            <a:endParaRPr b="0" i="0" sz="2200" u="none" cap="none" strike="noStrike"/>
          </a:p>
        </p:txBody>
      </p:sp>
      <p:sp>
        <p:nvSpPr>
          <p:cNvPr id="205" name="Google Shape;205;p18"/>
          <p:cNvSpPr/>
          <p:nvPr/>
        </p:nvSpPr>
        <p:spPr>
          <a:xfrm>
            <a:off x="1142524" y="2968109"/>
            <a:ext cx="580191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Total Queries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40</a:t>
            </a:r>
            <a:endParaRPr b="0" i="0" sz="1750" u="none" cap="none" strike="noStrike"/>
          </a:p>
        </p:txBody>
      </p:sp>
      <p:sp>
        <p:nvSpPr>
          <p:cNvPr id="206" name="Google Shape;206;p18"/>
          <p:cNvSpPr/>
          <p:nvPr/>
        </p:nvSpPr>
        <p:spPr>
          <a:xfrm>
            <a:off x="1142524" y="3410307"/>
            <a:ext cx="580191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Passed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30</a:t>
            </a:r>
            <a:endParaRPr b="0" i="0" sz="1750" u="none" cap="none" strike="noStrike"/>
          </a:p>
        </p:txBody>
      </p:sp>
      <p:sp>
        <p:nvSpPr>
          <p:cNvPr id="207" name="Google Shape;207;p18"/>
          <p:cNvSpPr/>
          <p:nvPr/>
        </p:nvSpPr>
        <p:spPr>
          <a:xfrm>
            <a:off x="1142524" y="3852505"/>
            <a:ext cx="580191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Failed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10 (Critical Failures)</a:t>
            </a:r>
            <a:endParaRPr b="0" i="0" sz="1750" u="none" cap="none" strike="noStrike"/>
          </a:p>
        </p:txBody>
      </p:sp>
      <p:sp>
        <p:nvSpPr>
          <p:cNvPr id="208" name="Google Shape;208;p18"/>
          <p:cNvSpPr/>
          <p:nvPr/>
        </p:nvSpPr>
        <p:spPr>
          <a:xfrm>
            <a:off x="1142524" y="4294703"/>
            <a:ext cx="580191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Success Rate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75.0%</a:t>
            </a:r>
            <a:endParaRPr b="0" i="0" sz="1750" u="none" cap="none" strike="noStrike"/>
          </a:p>
        </p:txBody>
      </p:sp>
      <p:sp>
        <p:nvSpPr>
          <p:cNvPr id="209" name="Google Shape;209;p18"/>
          <p:cNvSpPr/>
          <p:nvPr/>
        </p:nvSpPr>
        <p:spPr>
          <a:xfrm>
            <a:off x="1142524" y="4793694"/>
            <a:ext cx="580191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7EBD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007EBD"/>
                </a:solidFill>
                <a:latin typeface="Arimo"/>
                <a:ea typeface="Arimo"/>
                <a:cs typeface="Arimo"/>
                <a:sym typeface="Arimo"/>
              </a:rPr>
              <a:t>The Shocking Discovery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The OpenCart database lacks internal constraints, relying 100% on frontend validation. If the frontend is bypassed, data corruption is guaranteed.</a:t>
            </a:r>
            <a:endParaRPr b="0" i="0" sz="1750" u="none" cap="none" strike="noStrike"/>
          </a:p>
        </p:txBody>
      </p:sp>
      <p:sp>
        <p:nvSpPr>
          <p:cNvPr id="210" name="Google Shape;210;p18"/>
          <p:cNvSpPr/>
          <p:nvPr/>
        </p:nvSpPr>
        <p:spPr>
          <a:xfrm>
            <a:off x="7428548" y="2220397"/>
            <a:ext cx="6408063" cy="4951214"/>
          </a:xfrm>
          <a:prstGeom prst="roundRect">
            <a:avLst>
              <a:gd fmla="val 2955" name="adj"/>
            </a:avLst>
          </a:prstGeom>
          <a:solidFill>
            <a:srgbClr val="FAFAFA">
              <a:alpha val="94901"/>
            </a:srgbClr>
          </a:solidFill>
          <a:ln cap="flat" cmpd="sng" w="3047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8"/>
          <p:cNvSpPr/>
          <p:nvPr/>
        </p:nvSpPr>
        <p:spPr>
          <a:xfrm>
            <a:off x="7398067" y="2220397"/>
            <a:ext cx="121920" cy="4951214"/>
          </a:xfrm>
          <a:prstGeom prst="roundRect">
            <a:avLst>
              <a:gd fmla="val 78139" name="adj"/>
            </a:avLst>
          </a:prstGeom>
          <a:solidFill>
            <a:srgbClr val="5E4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8"/>
          <p:cNvSpPr/>
          <p:nvPr/>
        </p:nvSpPr>
        <p:spPr>
          <a:xfrm>
            <a:off x="7777282" y="2477691"/>
            <a:ext cx="530780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"/>
                <a:ea typeface="Outfit"/>
                <a:cs typeface="Outfit"/>
                <a:sym typeface="Outfit"/>
              </a:rPr>
              <a:t>Top 5 Critical Data Vulnerabilities Found</a:t>
            </a:r>
            <a:endParaRPr b="0" i="0" sz="2200" u="none" cap="none" strike="noStrike"/>
          </a:p>
        </p:txBody>
      </p:sp>
      <p:sp>
        <p:nvSpPr>
          <p:cNvPr id="213" name="Google Shape;213;p18"/>
          <p:cNvSpPr/>
          <p:nvPr/>
        </p:nvSpPr>
        <p:spPr>
          <a:xfrm>
            <a:off x="7777282" y="2968109"/>
            <a:ext cx="58020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Null Email Accepted (DB_31)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We successfully inserted a customer with NULL email.</a:t>
            </a:r>
            <a:endParaRPr b="0" i="0" sz="1750" u="none" cap="none" strike="noStrike"/>
          </a:p>
        </p:txBody>
      </p:sp>
      <p:sp>
        <p:nvSpPr>
          <p:cNvPr id="214" name="Google Shape;214;p18"/>
          <p:cNvSpPr/>
          <p:nvPr/>
        </p:nvSpPr>
        <p:spPr>
          <a:xfrm>
            <a:off x="7777282" y="3773210"/>
            <a:ext cx="58020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Negative Prices (DB_32)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Database accepted a product price of -99.99.</a:t>
            </a:r>
            <a:endParaRPr b="0" i="0" sz="1750" u="none" cap="none" strike="noStrike"/>
          </a:p>
        </p:txBody>
      </p:sp>
      <p:sp>
        <p:nvSpPr>
          <p:cNvPr id="215" name="Google Shape;215;p18"/>
          <p:cNvSpPr/>
          <p:nvPr/>
        </p:nvSpPr>
        <p:spPr>
          <a:xfrm>
            <a:off x="7777282" y="4578310"/>
            <a:ext cx="58020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Broken Foreign Keys (DB_33)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Created an Order for a </a:t>
            </a: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non-existent Customer (ID 9999)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 b="0" i="0" sz="1750" u="none" cap="none" strike="noStrike"/>
          </a:p>
        </p:txBody>
      </p:sp>
      <p:sp>
        <p:nvSpPr>
          <p:cNvPr id="216" name="Google Shape;216;p18"/>
          <p:cNvSpPr/>
          <p:nvPr/>
        </p:nvSpPr>
        <p:spPr>
          <a:xfrm>
            <a:off x="7777282" y="5383411"/>
            <a:ext cx="58020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Zero Quantity Cart (DB_36)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Added 0 items to a shopping cart.</a:t>
            </a:r>
            <a:endParaRPr b="0" i="0" sz="1750" u="none" cap="none" strike="noStrike"/>
          </a:p>
        </p:txBody>
      </p:sp>
      <p:sp>
        <p:nvSpPr>
          <p:cNvPr id="217" name="Google Shape;217;p18"/>
          <p:cNvSpPr/>
          <p:nvPr/>
        </p:nvSpPr>
        <p:spPr>
          <a:xfrm>
            <a:off x="7777282" y="6188512"/>
            <a:ext cx="58020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Ghost Wishlist (DB_40)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Added a non-existent product to a user's wishlist.</a:t>
            </a:r>
            <a:endParaRPr b="0" i="0" sz="1750" u="none" cap="none" strike="noStrike"/>
          </a:p>
        </p:txBody>
      </p:sp>
      <p:sp>
        <p:nvSpPr>
          <p:cNvPr id="218" name="Google Shape;218;p18"/>
          <p:cNvSpPr/>
          <p:nvPr/>
        </p:nvSpPr>
        <p:spPr>
          <a:xfrm>
            <a:off x="12841650" y="7612975"/>
            <a:ext cx="1680600" cy="512700"/>
          </a:xfrm>
          <a:prstGeom prst="rect">
            <a:avLst/>
          </a:prstGeom>
          <a:solidFill>
            <a:srgbClr val="EEEEF4"/>
          </a:solidFill>
          <a:ln cap="flat" cmpd="sng" w="9525">
            <a:solidFill>
              <a:srgbClr val="EE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4" name="Google Shape;22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9"/>
          <p:cNvSpPr/>
          <p:nvPr/>
        </p:nvSpPr>
        <p:spPr>
          <a:xfrm>
            <a:off x="6228040" y="920472"/>
            <a:ext cx="7660719" cy="1324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01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4150"/>
              <a:buFont typeface="Outfit"/>
              <a:buNone/>
            </a:pPr>
            <a:r>
              <a:rPr b="1" i="0" lang="en-US" sz="4150" u="none" cap="none" strike="noStrike">
                <a:solidFill>
                  <a:srgbClr val="231971"/>
                </a:solidFill>
                <a:latin typeface="Outfit"/>
                <a:ea typeface="Outfit"/>
                <a:cs typeface="Outfit"/>
                <a:sym typeface="Outfit"/>
              </a:rPr>
              <a:t>7. Performance Analysis (JMeter)</a:t>
            </a:r>
            <a:endParaRPr b="0" i="0" sz="4150" u="none" cap="none" strike="noStrike"/>
          </a:p>
        </p:txBody>
      </p:sp>
      <p:sp>
        <p:nvSpPr>
          <p:cNvPr id="226" name="Google Shape;226;p19"/>
          <p:cNvSpPr/>
          <p:nvPr/>
        </p:nvSpPr>
        <p:spPr>
          <a:xfrm>
            <a:off x="6228040" y="2562701"/>
            <a:ext cx="7660719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650"/>
              <a:buFont typeface="Arimo"/>
              <a:buNone/>
            </a:pPr>
            <a:r>
              <a:rPr b="0" i="0" lang="en-US" sz="16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We strictly tested the </a:t>
            </a:r>
            <a:r>
              <a:rPr b="0" i="0" lang="en-US" sz="1650" u="none" cap="none" strike="noStrike">
                <a:solidFill>
                  <a:srgbClr val="007EBD"/>
                </a:solidFill>
                <a:latin typeface="Arimo"/>
                <a:ea typeface="Arimo"/>
                <a:cs typeface="Arimo"/>
                <a:sym typeface="Arimo"/>
              </a:rPr>
              <a:t>Throughput</a:t>
            </a:r>
            <a:r>
              <a:rPr b="0" i="0" lang="en-US" sz="16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and </a:t>
            </a:r>
            <a:r>
              <a:rPr b="0" i="0" lang="en-US" sz="1650" u="none" cap="none" strike="noStrike">
                <a:solidFill>
                  <a:srgbClr val="007EBD"/>
                </a:solidFill>
                <a:latin typeface="Arimo"/>
                <a:ea typeface="Arimo"/>
                <a:cs typeface="Arimo"/>
                <a:sym typeface="Arimo"/>
              </a:rPr>
              <a:t>Response Time</a:t>
            </a:r>
            <a:r>
              <a:rPr b="0" i="0" lang="en-US" sz="16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for high-traffic endpoints.</a:t>
            </a:r>
            <a:endParaRPr b="0" i="0" sz="1650" u="none" cap="none" strike="noStrike"/>
          </a:p>
        </p:txBody>
      </p:sp>
      <p:sp>
        <p:nvSpPr>
          <p:cNvPr id="227" name="Google Shape;227;p19"/>
          <p:cNvSpPr/>
          <p:nvPr/>
        </p:nvSpPr>
        <p:spPr>
          <a:xfrm>
            <a:off x="6228040" y="3351967"/>
            <a:ext cx="3571875" cy="662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2050"/>
              <a:buFont typeface="Outfit"/>
              <a:buNone/>
            </a:pPr>
            <a:r>
              <a:rPr b="1" i="0" lang="en-US" sz="2050" u="none" cap="none" strike="noStrike">
                <a:solidFill>
                  <a:srgbClr val="231971"/>
                </a:solidFill>
                <a:latin typeface="Outfit"/>
                <a:ea typeface="Outfit"/>
                <a:cs typeface="Outfit"/>
                <a:sym typeface="Outfit"/>
              </a:rPr>
              <a:t>Test Configuration (per screenshot evidence)</a:t>
            </a:r>
            <a:endParaRPr b="0" i="0" sz="2050" u="none" cap="none" strike="noStrike"/>
          </a:p>
        </p:txBody>
      </p:sp>
      <p:sp>
        <p:nvSpPr>
          <p:cNvPr id="228" name="Google Shape;228;p19"/>
          <p:cNvSpPr/>
          <p:nvPr/>
        </p:nvSpPr>
        <p:spPr>
          <a:xfrm>
            <a:off x="6228040" y="4226004"/>
            <a:ext cx="3571875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650"/>
              <a:buFont typeface="Arimo"/>
              <a:buNone/>
            </a:pPr>
            <a:r>
              <a:rPr b="1" i="0" lang="en-US" sz="16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Target</a:t>
            </a:r>
            <a:r>
              <a:rPr b="0" i="0" lang="en-US" sz="16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API Load Test (Automation Exercise).</a:t>
            </a:r>
            <a:endParaRPr b="0" i="0" sz="1650" u="none" cap="none" strike="noStrike"/>
          </a:p>
        </p:txBody>
      </p:sp>
      <p:sp>
        <p:nvSpPr>
          <p:cNvPr id="229" name="Google Shape;229;p19"/>
          <p:cNvSpPr/>
          <p:nvPr/>
        </p:nvSpPr>
        <p:spPr>
          <a:xfrm>
            <a:off x="6228040" y="4978241"/>
            <a:ext cx="3571875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650"/>
              <a:buFont typeface="Arimo"/>
              <a:buNone/>
            </a:pPr>
            <a:r>
              <a:rPr b="1" i="0" lang="en-US" sz="16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Users (Threads)</a:t>
            </a:r>
            <a:r>
              <a:rPr b="0" i="0" lang="en-US" sz="16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50 Concurrent Users.</a:t>
            </a:r>
            <a:endParaRPr b="0" i="0" sz="1650" u="none" cap="none" strike="noStrike"/>
          </a:p>
        </p:txBody>
      </p:sp>
      <p:sp>
        <p:nvSpPr>
          <p:cNvPr id="230" name="Google Shape;230;p19"/>
          <p:cNvSpPr/>
          <p:nvPr/>
        </p:nvSpPr>
        <p:spPr>
          <a:xfrm>
            <a:off x="6228040" y="5730478"/>
            <a:ext cx="3571875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650"/>
              <a:buFont typeface="Arimo"/>
              <a:buNone/>
            </a:pPr>
            <a:r>
              <a:rPr b="1" i="0" lang="en-US" sz="16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Ramp-up Period</a:t>
            </a:r>
            <a:r>
              <a:rPr b="0" i="0" lang="en-US" sz="16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10 Seconds.</a:t>
            </a:r>
            <a:endParaRPr b="0" i="0" sz="1650" u="none" cap="none" strike="noStrike"/>
          </a:p>
        </p:txBody>
      </p:sp>
      <p:sp>
        <p:nvSpPr>
          <p:cNvPr id="231" name="Google Shape;231;p19"/>
          <p:cNvSpPr/>
          <p:nvPr/>
        </p:nvSpPr>
        <p:spPr>
          <a:xfrm>
            <a:off x="6228040" y="6143625"/>
            <a:ext cx="3571875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650"/>
              <a:buFont typeface="Arimo"/>
              <a:buNone/>
            </a:pPr>
            <a:r>
              <a:rPr b="1" i="0" lang="en-US" sz="16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Loop Count</a:t>
            </a:r>
            <a:r>
              <a:rPr b="0" i="0" lang="en-US" sz="16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1.</a:t>
            </a:r>
            <a:endParaRPr b="0" i="0" sz="1650" u="none" cap="none" strike="noStrike"/>
          </a:p>
        </p:txBody>
      </p:sp>
      <p:sp>
        <p:nvSpPr>
          <p:cNvPr id="232" name="Google Shape;232;p19"/>
          <p:cNvSpPr/>
          <p:nvPr/>
        </p:nvSpPr>
        <p:spPr>
          <a:xfrm>
            <a:off x="6228040" y="6556772"/>
            <a:ext cx="3571875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650"/>
              <a:buFont typeface="Arimo"/>
              <a:buNone/>
            </a:pPr>
            <a:r>
              <a:rPr b="1" i="0" lang="en-US" sz="16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Scope</a:t>
            </a:r>
            <a:r>
              <a:rPr b="0" i="0" lang="en-US" sz="16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Verified performance for both API and Database load.</a:t>
            </a:r>
            <a:endParaRPr b="0" i="0" sz="1650" u="none" cap="none" strike="noStrike"/>
          </a:p>
        </p:txBody>
      </p:sp>
      <p:sp>
        <p:nvSpPr>
          <p:cNvPr id="233" name="Google Shape;233;p19"/>
          <p:cNvSpPr/>
          <p:nvPr/>
        </p:nvSpPr>
        <p:spPr>
          <a:xfrm>
            <a:off x="10324505" y="3351967"/>
            <a:ext cx="2648903" cy="33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2050"/>
              <a:buFont typeface="Outfit"/>
              <a:buNone/>
            </a:pPr>
            <a:r>
              <a:rPr b="1" i="0" lang="en-US" sz="2050" u="none" cap="none" strike="noStrike">
                <a:solidFill>
                  <a:srgbClr val="231971"/>
                </a:solidFill>
                <a:latin typeface="Outfit"/>
                <a:ea typeface="Outfit"/>
                <a:cs typeface="Outfit"/>
                <a:sym typeface="Outfit"/>
              </a:rPr>
              <a:t>Results</a:t>
            </a:r>
            <a:endParaRPr b="0" i="0" sz="2050" u="none" cap="none" strike="noStrike"/>
          </a:p>
        </p:txBody>
      </p:sp>
      <p:sp>
        <p:nvSpPr>
          <p:cNvPr id="234" name="Google Shape;234;p19"/>
          <p:cNvSpPr/>
          <p:nvPr/>
        </p:nvSpPr>
        <p:spPr>
          <a:xfrm>
            <a:off x="10324505" y="3894892"/>
            <a:ext cx="3571875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650"/>
              <a:buFont typeface="Arimo"/>
              <a:buNone/>
            </a:pPr>
            <a:r>
              <a:rPr b="1" i="0" lang="en-US" sz="16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Average Throughput</a:t>
            </a:r>
            <a:r>
              <a:rPr b="0" i="0" lang="en-US" sz="16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~3.9 Requests per second.</a:t>
            </a:r>
            <a:endParaRPr b="0" i="0" sz="1650" u="none" cap="none" strike="noStrike"/>
          </a:p>
        </p:txBody>
      </p:sp>
      <p:sp>
        <p:nvSpPr>
          <p:cNvPr id="235" name="Google Shape;235;p19"/>
          <p:cNvSpPr/>
          <p:nvPr/>
        </p:nvSpPr>
        <p:spPr>
          <a:xfrm>
            <a:off x="10324505" y="4647128"/>
            <a:ext cx="3571875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650"/>
              <a:buFont typeface="Arimo"/>
              <a:buNone/>
            </a:pPr>
            <a:r>
              <a:rPr b="1" i="0" lang="en-US" sz="16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Average Response Time</a:t>
            </a:r>
            <a:r>
              <a:rPr b="0" i="0" lang="en-US" sz="16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786 ms (Acceptable &lt; 1s).</a:t>
            </a:r>
            <a:endParaRPr b="0" i="0" sz="1650" u="none" cap="none" strike="noStrike"/>
          </a:p>
        </p:txBody>
      </p:sp>
      <p:sp>
        <p:nvSpPr>
          <p:cNvPr id="236" name="Google Shape;236;p19"/>
          <p:cNvSpPr/>
          <p:nvPr/>
        </p:nvSpPr>
        <p:spPr>
          <a:xfrm>
            <a:off x="10324505" y="5399365"/>
            <a:ext cx="3571875" cy="1356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650"/>
              <a:buFont typeface="Arimo"/>
              <a:buNone/>
            </a:pPr>
            <a:r>
              <a:rPr b="1" i="0" lang="en-US" sz="16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Bottleneck</a:t>
            </a:r>
            <a:r>
              <a:rPr b="0" i="0" lang="en-US" sz="16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"Get All Products" endpoint peaked at 2068ms (2s), indicating a need for pagination or query optimization.</a:t>
            </a:r>
            <a:endParaRPr b="0" i="0" sz="1650" u="none" cap="none" strike="noStrike"/>
          </a:p>
        </p:txBody>
      </p:sp>
      <p:sp>
        <p:nvSpPr>
          <p:cNvPr id="237" name="Google Shape;237;p19"/>
          <p:cNvSpPr/>
          <p:nvPr/>
        </p:nvSpPr>
        <p:spPr>
          <a:xfrm>
            <a:off x="12841650" y="7612975"/>
            <a:ext cx="1680600" cy="512700"/>
          </a:xfrm>
          <a:prstGeom prst="rect">
            <a:avLst/>
          </a:prstGeom>
          <a:solidFill>
            <a:srgbClr val="EEEEF4"/>
          </a:solidFill>
          <a:ln cap="flat" cmpd="sng" w="9525">
            <a:solidFill>
              <a:srgbClr val="EE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3" name="Google Shape;2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0"/>
          <p:cNvSpPr/>
          <p:nvPr/>
        </p:nvSpPr>
        <p:spPr>
          <a:xfrm>
            <a:off x="793790" y="1570673"/>
            <a:ext cx="695456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4450"/>
              <a:buFont typeface="Outfit"/>
              <a:buNone/>
            </a:pPr>
            <a:r>
              <a:rPr b="1" i="0" lang="en-US" sz="4450" u="none" cap="none" strike="noStrike">
                <a:solidFill>
                  <a:srgbClr val="231971"/>
                </a:solidFill>
                <a:latin typeface="Outfit"/>
                <a:ea typeface="Outfit"/>
                <a:cs typeface="Outfit"/>
                <a:sym typeface="Outfit"/>
              </a:rPr>
              <a:t>8. Final Recommendations</a:t>
            </a:r>
            <a:endParaRPr b="0" i="0" sz="4450" u="none" cap="none" strike="noStrike"/>
          </a:p>
        </p:txBody>
      </p:sp>
      <p:sp>
        <p:nvSpPr>
          <p:cNvPr id="245" name="Google Shape;245;p20"/>
          <p:cNvSpPr/>
          <p:nvPr/>
        </p:nvSpPr>
        <p:spPr>
          <a:xfrm>
            <a:off x="793790" y="2619613"/>
            <a:ext cx="7556421" cy="2490192"/>
          </a:xfrm>
          <a:prstGeom prst="roundRect">
            <a:avLst>
              <a:gd fmla="val 3826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0"/>
          <p:cNvSpPr/>
          <p:nvPr/>
        </p:nvSpPr>
        <p:spPr>
          <a:xfrm>
            <a:off x="1028224" y="2854047"/>
            <a:ext cx="480262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"/>
                <a:ea typeface="Outfit"/>
                <a:cs typeface="Outfit"/>
                <a:sym typeface="Outfit"/>
              </a:rPr>
              <a:t>Immediate Actions (Prior to Release)</a:t>
            </a:r>
            <a:endParaRPr b="0" i="0" sz="2200" u="none" cap="none" strike="noStrike"/>
          </a:p>
        </p:txBody>
      </p:sp>
      <p:sp>
        <p:nvSpPr>
          <p:cNvPr id="247" name="Google Shape;247;p20"/>
          <p:cNvSpPr/>
          <p:nvPr/>
        </p:nvSpPr>
        <p:spPr>
          <a:xfrm>
            <a:off x="1028224" y="3344466"/>
            <a:ext cx="708755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Add DB Constraints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Add NOT NULL, CHECK (price &gt;= 0), and FOREIGN KEY constraints to the SQL schema.</a:t>
            </a:r>
            <a:endParaRPr b="0" i="0" sz="1750" u="none" cap="none" strike="noStrike"/>
          </a:p>
        </p:txBody>
      </p:sp>
      <p:sp>
        <p:nvSpPr>
          <p:cNvPr id="248" name="Google Shape;248;p20"/>
          <p:cNvSpPr/>
          <p:nvPr/>
        </p:nvSpPr>
        <p:spPr>
          <a:xfrm>
            <a:off x="1028224" y="4149566"/>
            <a:ext cx="708755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Standardize API Responses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: Ensure failures return 4xx or 5xx codes.</a:t>
            </a:r>
            <a:endParaRPr b="0" i="0" sz="1750" u="none" cap="none" strike="noStrike"/>
          </a:p>
        </p:txBody>
      </p:sp>
      <p:sp>
        <p:nvSpPr>
          <p:cNvPr id="249" name="Google Shape;249;p20"/>
          <p:cNvSpPr/>
          <p:nvPr/>
        </p:nvSpPr>
        <p:spPr>
          <a:xfrm>
            <a:off x="793790" y="5336619"/>
            <a:ext cx="7556421" cy="1322189"/>
          </a:xfrm>
          <a:prstGeom prst="roundRect">
            <a:avLst>
              <a:gd fmla="val 7205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0"/>
          <p:cNvSpPr/>
          <p:nvPr/>
        </p:nvSpPr>
        <p:spPr>
          <a:xfrm>
            <a:off x="1028224" y="557105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"/>
                <a:ea typeface="Outfit"/>
                <a:cs typeface="Outfit"/>
                <a:sym typeface="Outfit"/>
              </a:rPr>
              <a:t>Sign-off Status</a:t>
            </a:r>
            <a:endParaRPr b="0" i="0" sz="2200" u="none" cap="none" strike="noStrike"/>
          </a:p>
        </p:txBody>
      </p:sp>
      <p:sp>
        <p:nvSpPr>
          <p:cNvPr id="251" name="Google Shape;251;p20"/>
          <p:cNvSpPr/>
          <p:nvPr/>
        </p:nvSpPr>
        <p:spPr>
          <a:xfrm>
            <a:off x="1028224" y="6061472"/>
            <a:ext cx="708755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7EBD"/>
              </a:buClr>
              <a:buSzPts val="1750"/>
              <a:buFont typeface="Arimo"/>
              <a:buNone/>
            </a:pPr>
            <a:r>
              <a:rPr b="1" i="0" lang="en-US" sz="1750" u="none" cap="none" strike="noStrike">
                <a:solidFill>
                  <a:srgbClr val="007EBD"/>
                </a:solidFill>
                <a:latin typeface="Arimo"/>
                <a:ea typeface="Arimo"/>
                <a:cs typeface="Arimo"/>
                <a:sym typeface="Arimo"/>
              </a:rPr>
              <a:t>CONDITIONAL GO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(Pending DB Constraint Fixes).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